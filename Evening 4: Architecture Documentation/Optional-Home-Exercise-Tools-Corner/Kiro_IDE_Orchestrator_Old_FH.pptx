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"/>
  <Override PartName="/ppt/media/image5.svg" ContentType="image/sv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</p:sldMasterIdLst>
  <p:sldIdLst>
    <p:sldId id="258" r:id="rId17"/>
    <p:sldId id="264" r:id="rId15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" Target="slides/slide8.xml"/><Relationship Id="rId17" Type="http://schemas.openxmlformats.org/officeDocument/2006/relationships/slide" Target="slides/slide3.xml"/><Relationship Id="rId23" Type="http://schemas.openxmlformats.org/officeDocument/2006/relationships/presProps" Target="presProps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Foto Technikum T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FOLIE 01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DD6351-B732-4333-8876-B835C72BC807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FOLIE 02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FD09B5C-63AB-4E52-A37A-ADF64106B4B3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FOLIE 01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D4FCEE-A069-4DF2-8115-5C9372EE864B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FOLIE 02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44AED04-499F-4395-8959-73C3CB4DC3F9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Foto Technikum Na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Balken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nur Text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nur Text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FOLIE 01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17A2D927-1890-486C-BF43-F91B022FDBB4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FOLIE 02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1FC9E8D-46B6-4D5F-9A8C-B212B72B93B1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29120" y="3599280"/>
            <a:ext cx="5897160" cy="4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chemeClr val="lt1"/>
                </a:solidFill>
                <a:highlight>
                  <a:srgbClr val="005a96"/>
                </a:highlight>
                <a:latin typeface="Arial"/>
              </a:rPr>
              <a:t>Titel</a:t>
            </a:r>
            <a:endParaRPr b="0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129120" y="4294440"/>
            <a:ext cx="58971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312"/>
          </a:bodyPr>
          <a:p>
            <a:pPr indent="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chemeClr val="lt1"/>
                </a:solidFill>
                <a:highlight>
                  <a:srgbClr val="005a96"/>
                </a:highlight>
                <a:latin typeface="Arial"/>
              </a:rPr>
              <a:t>Untertitel / Autor</a:t>
            </a:r>
            <a:endParaRPr b="0" lang="de-DE" sz="21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" name="Grafik 8" descr="FH Technikum Wien - University of Applied Sciences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204920" y="1917000"/>
            <a:ext cx="3366720" cy="21214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640" cy="4728960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AT" sz="135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80000" y="114480"/>
            <a:ext cx="8768520" cy="4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49973" lnSpcReduction="10000"/>
          </a:bodyPr>
          <a:p>
            <a:pPr indent="0" defTabSz="685800">
              <a:lnSpc>
                <a:spcPct val="90000"/>
              </a:lnSpc>
              <a:buNone/>
            </a:pPr>
            <a:r>
              <a:rPr b="1" lang="de-DE" sz="2700" spc="-1" strike="noStrike">
                <a:solidFill>
                  <a:schemeClr val="lt1"/>
                </a:solidFill>
                <a:latin typeface="Arial"/>
              </a:rPr>
              <a:t>Folien Überschrift 1 (Arial Bold, 36pt)</a:t>
            </a:r>
            <a:br>
              <a:rPr sz="2700"/>
            </a:br>
            <a:endParaRPr b="0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80000" y="607680"/>
            <a:ext cx="8768520" cy="40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ffffff"/>
              </a:buClr>
              <a:buFont typeface="Arial"/>
              <a:buChar char="•"/>
            </a:pPr>
            <a:r>
              <a:rPr b="0" lang="de-DE" sz="2100" spc="-1" strike="noStrike">
                <a:solidFill>
                  <a:schemeClr val="lt2"/>
                </a:solidFill>
                <a:latin typeface="Arial"/>
              </a:rPr>
              <a:t>Mastertextformat bearbeiten</a:t>
            </a:r>
            <a:endParaRPr b="0" lang="de-DE" sz="2100" spc="-1" strike="noStrike">
              <a:solidFill>
                <a:schemeClr val="dk1"/>
              </a:solidFill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ffffff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lt2"/>
                </a:solidFill>
                <a:latin typeface="Arial"/>
              </a:rPr>
              <a:t>Zweite Ebene</a:t>
            </a:r>
            <a:endParaRPr b="0" lang="de-DE" sz="1800" spc="-1" strike="noStrike">
              <a:solidFill>
                <a:schemeClr val="dk1"/>
              </a:solidFill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ffffff"/>
              </a:buClr>
              <a:buFont typeface="Symbol" charset="2"/>
              <a:buChar char=""/>
            </a:pPr>
            <a:r>
              <a:rPr b="0" lang="de-DE" sz="1350" spc="-1" strike="noStrike">
                <a:solidFill>
                  <a:schemeClr val="lt2"/>
                </a:solidFill>
                <a:latin typeface="Arial"/>
              </a:rPr>
              <a:t>Dritte Ebene</a:t>
            </a:r>
            <a:endParaRPr b="0" lang="de-DE" sz="1350" spc="-1" strike="noStrike">
              <a:solidFill>
                <a:schemeClr val="dk1"/>
              </a:solidFill>
              <a:latin typeface="Arial"/>
            </a:endParaRPr>
          </a:p>
          <a:p>
            <a:pPr lvl="3" marL="1285920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Symbol" charset="2"/>
              <a:buChar char=""/>
            </a:pPr>
            <a:r>
              <a:rPr b="0" lang="de-DE" sz="1200" spc="-1" strike="noStrike">
                <a:solidFill>
                  <a:schemeClr val="lt2"/>
                </a:solidFill>
                <a:latin typeface="Arial"/>
              </a:rPr>
              <a:t>Vierte Ebene</a:t>
            </a:r>
            <a:endParaRPr b="0" lang="de-DE" sz="1200" spc="-1" strike="noStrike">
              <a:solidFill>
                <a:schemeClr val="dk1"/>
              </a:solidFill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b="0" lang="de-DE" sz="1050" spc="-1" strike="noStrike">
                <a:solidFill>
                  <a:schemeClr val="lt2"/>
                </a:solidFill>
                <a:latin typeface="Arial"/>
              </a:rPr>
              <a:t>Fünfte Ebene</a:t>
            </a:r>
            <a:endParaRPr b="0" lang="de-DE" sz="1050" spc="-1" strike="noStrike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6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4729320"/>
            <a:ext cx="9144360" cy="360"/>
          </a:xfrm>
          <a:prstGeom prst="straightConnector1">
            <a:avLst/>
          </a:prstGeom>
          <a:ln w="12700">
            <a:solidFill>
              <a:srgbClr val="72777a"/>
            </a:solidFill>
          </a:ln>
        </p:spPr>
      </p:cxnSp>
      <p:cxnSp>
        <p:nvCxnSpPr>
          <p:cNvPr id="7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555040" y="4767480"/>
            <a:ext cx="360" cy="33408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sp>
        <p:nvSpPr>
          <p:cNvPr id="8" name="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idx="1"/>
          </p:nvPr>
        </p:nvSpPr>
        <p:spPr>
          <a:xfrm>
            <a:off x="2793240" y="4812480"/>
            <a:ext cx="56739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75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GB" sz="750" spc="-1" strike="noStrike">
                <a:solidFill>
                  <a:schemeClr val="dk1"/>
                </a:solidFill>
                <a:latin typeface="Arial"/>
              </a:rPr>
              <a:t>&lt;footer&gt;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xfrm>
            <a:off x="8542080" y="4812480"/>
            <a:ext cx="4849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B9C2C8-4B61-4D34-91BD-FD31819B38CF}" type="slidenum">
              <a:rPr b="0" lang="en-GB" sz="9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" name="Grafik 9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4704480"/>
            <a:ext cx="696600" cy="4388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640" cy="4728960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AT" sz="135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80000" y="114480"/>
            <a:ext cx="8758080" cy="4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49973" lnSpcReduction="10000"/>
          </a:bodyPr>
          <a:p>
            <a:pPr indent="0" defTabSz="685800">
              <a:lnSpc>
                <a:spcPct val="90000"/>
              </a:lnSpc>
              <a:buNone/>
            </a:pPr>
            <a:r>
              <a:rPr b="1" lang="de-DE" sz="2700" spc="-1" strike="noStrike">
                <a:solidFill>
                  <a:schemeClr val="lt1"/>
                </a:solidFill>
                <a:latin typeface="Arial"/>
              </a:rPr>
              <a:t>Folien Überschrift 1 (Arial Bold, 36pt)</a:t>
            </a:r>
            <a:br>
              <a:rPr sz="2700"/>
            </a:br>
            <a:endParaRPr b="0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179280" y="607680"/>
            <a:ext cx="4319640" cy="40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ffffff"/>
              </a:buClr>
              <a:buFont typeface="Arial"/>
              <a:buChar char="•"/>
            </a:pPr>
            <a:r>
              <a:rPr b="0" lang="de-DE" sz="2100" spc="-1" strike="noStrike">
                <a:solidFill>
                  <a:schemeClr val="lt2"/>
                </a:solidFill>
                <a:latin typeface="Arial"/>
              </a:rPr>
              <a:t>Mastertextformat bearbeiten</a:t>
            </a:r>
            <a:endParaRPr b="0" lang="de-DE" sz="2100" spc="-1" strike="noStrike">
              <a:solidFill>
                <a:schemeClr val="dk1"/>
              </a:solidFill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ffffff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lt2"/>
                </a:solidFill>
                <a:latin typeface="Arial"/>
              </a:rPr>
              <a:t>Zweite Ebene</a:t>
            </a:r>
            <a:endParaRPr b="0" lang="de-DE" sz="1800" spc="-1" strike="noStrike">
              <a:solidFill>
                <a:schemeClr val="dk1"/>
              </a:solidFill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ffffff"/>
              </a:buClr>
              <a:buFont typeface="Symbol" charset="2"/>
              <a:buChar char=""/>
            </a:pPr>
            <a:r>
              <a:rPr b="0" lang="de-DE" sz="1350" spc="-1" strike="noStrike">
                <a:solidFill>
                  <a:schemeClr val="lt2"/>
                </a:solidFill>
                <a:latin typeface="Arial"/>
              </a:rPr>
              <a:t>Dritte Ebene</a:t>
            </a:r>
            <a:endParaRPr b="0" lang="de-DE" sz="1350" spc="-1" strike="noStrike">
              <a:solidFill>
                <a:schemeClr val="dk1"/>
              </a:solidFill>
              <a:latin typeface="Arial"/>
            </a:endParaRPr>
          </a:p>
          <a:p>
            <a:pPr lvl="3" marL="1285920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Symbol" charset="2"/>
              <a:buChar char=""/>
            </a:pPr>
            <a:r>
              <a:rPr b="0" lang="de-DE" sz="1200" spc="-1" strike="noStrike">
                <a:solidFill>
                  <a:schemeClr val="lt2"/>
                </a:solidFill>
                <a:latin typeface="Arial"/>
              </a:rPr>
              <a:t>Vierte Ebene</a:t>
            </a:r>
            <a:endParaRPr b="0" lang="de-DE" sz="1200" spc="-1" strike="noStrike">
              <a:solidFill>
                <a:schemeClr val="dk1"/>
              </a:solidFill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b="0" lang="de-DE" sz="1050" spc="-1" strike="noStrike">
                <a:solidFill>
                  <a:schemeClr val="lt2"/>
                </a:solidFill>
                <a:latin typeface="Arial"/>
              </a:rPr>
              <a:t>Fünfte Ebene</a:t>
            </a:r>
            <a:endParaRPr b="0" lang="de-DE" sz="105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15560" y="606240"/>
            <a:ext cx="4319640" cy="40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ffffff"/>
              </a:buClr>
              <a:buFont typeface="Arial"/>
              <a:buChar char="•"/>
            </a:pPr>
            <a:r>
              <a:rPr b="0" lang="de-DE" sz="2100" spc="-1" strike="noStrike">
                <a:solidFill>
                  <a:schemeClr val="lt2"/>
                </a:solidFill>
                <a:latin typeface="Arial"/>
              </a:rPr>
              <a:t>Mastertextformat bearbeiten</a:t>
            </a:r>
            <a:endParaRPr b="0" lang="de-DE" sz="2100" spc="-1" strike="noStrike">
              <a:solidFill>
                <a:schemeClr val="dk1"/>
              </a:solidFill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ffffff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lt2"/>
                </a:solidFill>
                <a:latin typeface="Arial"/>
              </a:rPr>
              <a:t>Zweite Ebene</a:t>
            </a:r>
            <a:endParaRPr b="0" lang="de-DE" sz="1800" spc="-1" strike="noStrike">
              <a:solidFill>
                <a:schemeClr val="dk1"/>
              </a:solidFill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ffffff"/>
              </a:buClr>
              <a:buFont typeface="Symbol" charset="2"/>
              <a:buChar char=""/>
            </a:pPr>
            <a:r>
              <a:rPr b="0" lang="de-DE" sz="1350" spc="-1" strike="noStrike">
                <a:solidFill>
                  <a:schemeClr val="lt2"/>
                </a:solidFill>
                <a:latin typeface="Arial"/>
              </a:rPr>
              <a:t>Dritte Ebene</a:t>
            </a:r>
            <a:endParaRPr b="0" lang="de-DE" sz="1350" spc="-1" strike="noStrike">
              <a:solidFill>
                <a:schemeClr val="dk1"/>
              </a:solidFill>
              <a:latin typeface="Arial"/>
            </a:endParaRPr>
          </a:p>
          <a:p>
            <a:pPr lvl="3" marL="1285920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Symbol" charset="2"/>
              <a:buChar char=""/>
            </a:pPr>
            <a:r>
              <a:rPr b="0" lang="de-DE" sz="1200" spc="-1" strike="noStrike">
                <a:solidFill>
                  <a:schemeClr val="lt2"/>
                </a:solidFill>
                <a:latin typeface="Arial"/>
              </a:rPr>
              <a:t>Vierte Ebene</a:t>
            </a:r>
            <a:endParaRPr b="0" lang="de-DE" sz="1200" spc="-1" strike="noStrike">
              <a:solidFill>
                <a:schemeClr val="dk1"/>
              </a:solidFill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b="0" lang="de-DE" sz="1050" spc="-1" strike="noStrike">
                <a:solidFill>
                  <a:schemeClr val="lt2"/>
                </a:solidFill>
                <a:latin typeface="Arial"/>
              </a:rPr>
              <a:t>Fünfte Ebene</a:t>
            </a:r>
            <a:endParaRPr b="0" lang="de-DE" sz="1050" spc="-1" strike="noStrike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15" name="Gerader Verbinde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555040" y="4767480"/>
            <a:ext cx="360" cy="33408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6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4729320"/>
            <a:ext cx="9144360" cy="360"/>
          </a:xfrm>
          <a:prstGeom prst="straightConnector1">
            <a:avLst/>
          </a:prstGeom>
          <a:ln w="12700">
            <a:solidFill>
              <a:srgbClr val="72777a"/>
            </a:solidFill>
          </a:ln>
        </p:spPr>
      </p:cxnSp>
      <p:sp>
        <p:nvSpPr>
          <p:cNvPr id="17" name="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793240" y="4812480"/>
            <a:ext cx="56739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75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GB" sz="750" spc="-1" strike="noStrike">
                <a:solidFill>
                  <a:schemeClr val="dk1"/>
                </a:solidFill>
                <a:latin typeface="Arial"/>
              </a:rPr>
              <a:t>&lt;footer&gt;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542080" y="4812480"/>
            <a:ext cx="4849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193AF3-E364-4299-B71E-86A7E32FC8B6}" type="slidenum">
              <a:rPr b="0" lang="en-GB" sz="9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9" name="Grafik 11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4704480"/>
            <a:ext cx="696600" cy="4388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640" cy="4728960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AT" sz="135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80000" y="114480"/>
            <a:ext cx="8758080" cy="4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49973" lnSpcReduction="10000"/>
          </a:bodyPr>
          <a:p>
            <a:pPr indent="0" defTabSz="685800">
              <a:lnSpc>
                <a:spcPct val="90000"/>
              </a:lnSpc>
              <a:buNone/>
            </a:pPr>
            <a:r>
              <a:rPr b="1" lang="de-DE" sz="2700" spc="-1" strike="noStrike">
                <a:solidFill>
                  <a:schemeClr val="lt1"/>
                </a:solidFill>
                <a:latin typeface="Arial"/>
              </a:rPr>
              <a:t>Folien Überschrift 1 (Arial Bold, 36pt)</a:t>
            </a:r>
            <a:br>
              <a:rPr sz="2700"/>
            </a:br>
            <a:endParaRPr b="0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180000" y="607680"/>
            <a:ext cx="8768520" cy="40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ffffff"/>
              </a:buClr>
              <a:buFont typeface="Arial"/>
              <a:buChar char="•"/>
            </a:pPr>
            <a:r>
              <a:rPr b="0" lang="de-DE" sz="2100" spc="-1" strike="noStrike">
                <a:solidFill>
                  <a:schemeClr val="lt2"/>
                </a:solidFill>
                <a:latin typeface="Arial"/>
              </a:rPr>
              <a:t>Mastertextformat bearbeiten</a:t>
            </a:r>
            <a:endParaRPr b="0" lang="de-DE" sz="2100" spc="-1" strike="noStrike">
              <a:solidFill>
                <a:schemeClr val="dk1"/>
              </a:solidFill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ffffff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lt2"/>
                </a:solidFill>
                <a:latin typeface="Arial"/>
              </a:rPr>
              <a:t>Zweite Ebene</a:t>
            </a:r>
            <a:endParaRPr b="0" lang="de-DE" sz="1800" spc="-1" strike="noStrike">
              <a:solidFill>
                <a:schemeClr val="dk1"/>
              </a:solidFill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ffffff"/>
              </a:buClr>
              <a:buFont typeface="Symbol" charset="2"/>
              <a:buChar char=""/>
            </a:pPr>
            <a:r>
              <a:rPr b="0" lang="de-DE" sz="1350" spc="-1" strike="noStrike">
                <a:solidFill>
                  <a:schemeClr val="lt2"/>
                </a:solidFill>
                <a:latin typeface="Arial"/>
              </a:rPr>
              <a:t>Dritte Ebene</a:t>
            </a:r>
            <a:endParaRPr b="0" lang="de-DE" sz="1350" spc="-1" strike="noStrike">
              <a:solidFill>
                <a:schemeClr val="dk1"/>
              </a:solidFill>
              <a:latin typeface="Arial"/>
            </a:endParaRPr>
          </a:p>
          <a:p>
            <a:pPr lvl="3" marL="1285920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Symbol" charset="2"/>
              <a:buChar char=""/>
            </a:pPr>
            <a:r>
              <a:rPr b="0" lang="de-DE" sz="1200" spc="-1" strike="noStrike">
                <a:solidFill>
                  <a:schemeClr val="lt2"/>
                </a:solidFill>
                <a:latin typeface="Arial"/>
              </a:rPr>
              <a:t>Vierte Ebene</a:t>
            </a:r>
            <a:endParaRPr b="0" lang="de-DE" sz="1200" spc="-1" strike="noStrike">
              <a:solidFill>
                <a:schemeClr val="dk1"/>
              </a:solidFill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b="0" lang="de-DE" sz="1050" spc="-1" strike="noStrike">
                <a:solidFill>
                  <a:schemeClr val="lt2"/>
                </a:solidFill>
                <a:latin typeface="Arial"/>
              </a:rPr>
              <a:t>Fünfte Ebene</a:t>
            </a:r>
            <a:endParaRPr b="0" lang="de-DE" sz="1050" spc="-1" strike="noStrike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2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555040" y="4767480"/>
            <a:ext cx="360" cy="33408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4729320"/>
            <a:ext cx="9144360" cy="360"/>
          </a:xfrm>
          <a:prstGeom prst="straightConnector1">
            <a:avLst/>
          </a:prstGeom>
          <a:ln w="12700">
            <a:solidFill>
              <a:srgbClr val="72777a"/>
            </a:solidFill>
          </a:ln>
        </p:spPr>
      </p:cxnSp>
      <p:sp>
        <p:nvSpPr>
          <p:cNvPr id="25" name="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idx="5"/>
          </p:nvPr>
        </p:nvSpPr>
        <p:spPr>
          <a:xfrm>
            <a:off x="2793240" y="4812480"/>
            <a:ext cx="56739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75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GB" sz="750" spc="-1" strike="noStrike">
                <a:solidFill>
                  <a:schemeClr val="dk1"/>
                </a:solidFill>
                <a:latin typeface="Arial"/>
              </a:rPr>
              <a:t>&lt;footer&gt;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idx="6"/>
          </p:nvPr>
        </p:nvSpPr>
        <p:spPr>
          <a:xfrm>
            <a:off x="8542080" y="4812480"/>
            <a:ext cx="4849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F3A2AE-2EF3-44CB-B15F-6CD1124C0D31}" type="slidenum">
              <a:rPr b="0" lang="en-GB" sz="9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7" name="Grafik 11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4704480"/>
            <a:ext cx="696600" cy="4388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640" cy="4728960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AT" sz="135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80000" y="114480"/>
            <a:ext cx="8783640" cy="4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49973" lnSpcReduction="10000"/>
          </a:bodyPr>
          <a:p>
            <a:pPr indent="0" defTabSz="685800">
              <a:lnSpc>
                <a:spcPct val="90000"/>
              </a:lnSpc>
              <a:buNone/>
            </a:pPr>
            <a:r>
              <a:rPr b="1" lang="de-DE" sz="2700" spc="-1" strike="noStrike">
                <a:solidFill>
                  <a:schemeClr val="lt1"/>
                </a:solidFill>
                <a:latin typeface="Arial"/>
              </a:rPr>
              <a:t>Folien Überschrift 1 (Arial Bold, 36pt)</a:t>
            </a:r>
            <a:br>
              <a:rPr sz="2700"/>
            </a:br>
            <a:endParaRPr b="0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79280" y="607680"/>
            <a:ext cx="4319640" cy="40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ffffff"/>
              </a:buClr>
              <a:buFont typeface="Arial"/>
              <a:buChar char="•"/>
            </a:pPr>
            <a:r>
              <a:rPr b="0" lang="de-DE" sz="2100" spc="-1" strike="noStrike">
                <a:solidFill>
                  <a:schemeClr val="lt2"/>
                </a:solidFill>
                <a:latin typeface="Arial"/>
              </a:rPr>
              <a:t>Mastertextformat bearbeiten</a:t>
            </a:r>
            <a:endParaRPr b="0" lang="de-DE" sz="2100" spc="-1" strike="noStrike">
              <a:solidFill>
                <a:schemeClr val="dk1"/>
              </a:solidFill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ffffff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lt2"/>
                </a:solidFill>
                <a:latin typeface="Arial"/>
              </a:rPr>
              <a:t>Zweite Ebene</a:t>
            </a:r>
            <a:endParaRPr b="0" lang="de-DE" sz="1800" spc="-1" strike="noStrike">
              <a:solidFill>
                <a:schemeClr val="dk1"/>
              </a:solidFill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ffffff"/>
              </a:buClr>
              <a:buFont typeface="Symbol" charset="2"/>
              <a:buChar char=""/>
            </a:pPr>
            <a:r>
              <a:rPr b="0" lang="de-DE" sz="1350" spc="-1" strike="noStrike">
                <a:solidFill>
                  <a:schemeClr val="lt2"/>
                </a:solidFill>
                <a:latin typeface="Arial"/>
              </a:rPr>
              <a:t>Dritte Ebene</a:t>
            </a:r>
            <a:endParaRPr b="0" lang="de-DE" sz="1350" spc="-1" strike="noStrike">
              <a:solidFill>
                <a:schemeClr val="dk1"/>
              </a:solidFill>
              <a:latin typeface="Arial"/>
            </a:endParaRPr>
          </a:p>
          <a:p>
            <a:pPr lvl="3" marL="1285920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Symbol" charset="2"/>
              <a:buChar char=""/>
            </a:pPr>
            <a:r>
              <a:rPr b="0" lang="de-DE" sz="1200" spc="-1" strike="noStrike">
                <a:solidFill>
                  <a:schemeClr val="lt2"/>
                </a:solidFill>
                <a:latin typeface="Arial"/>
              </a:rPr>
              <a:t>Vierte Ebene</a:t>
            </a:r>
            <a:endParaRPr b="0" lang="de-DE" sz="1200" spc="-1" strike="noStrike">
              <a:solidFill>
                <a:schemeClr val="dk1"/>
              </a:solidFill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b="0" lang="de-DE" sz="1050" spc="-1" strike="noStrike">
                <a:solidFill>
                  <a:schemeClr val="lt2"/>
                </a:solidFill>
                <a:latin typeface="Arial"/>
              </a:rPr>
              <a:t>Fünfte Ebene</a:t>
            </a:r>
            <a:endParaRPr b="0" lang="de-DE" sz="105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4000" y="607680"/>
            <a:ext cx="4319640" cy="40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ffffff"/>
              </a:buClr>
              <a:buFont typeface="Arial"/>
              <a:buChar char="•"/>
            </a:pPr>
            <a:r>
              <a:rPr b="0" lang="de-DE" sz="2100" spc="-1" strike="noStrike">
                <a:solidFill>
                  <a:schemeClr val="lt2"/>
                </a:solidFill>
                <a:latin typeface="Arial"/>
              </a:rPr>
              <a:t>Mastertextformat bearbeiten</a:t>
            </a:r>
            <a:endParaRPr b="0" lang="de-DE" sz="2100" spc="-1" strike="noStrike">
              <a:solidFill>
                <a:schemeClr val="dk1"/>
              </a:solidFill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ffffff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lt2"/>
                </a:solidFill>
                <a:latin typeface="Arial"/>
              </a:rPr>
              <a:t>Zweite Ebene</a:t>
            </a:r>
            <a:endParaRPr b="0" lang="de-DE" sz="1800" spc="-1" strike="noStrike">
              <a:solidFill>
                <a:schemeClr val="dk1"/>
              </a:solidFill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ffffff"/>
              </a:buClr>
              <a:buFont typeface="Symbol" charset="2"/>
              <a:buChar char=""/>
            </a:pPr>
            <a:r>
              <a:rPr b="0" lang="de-DE" sz="1350" spc="-1" strike="noStrike">
                <a:solidFill>
                  <a:schemeClr val="lt2"/>
                </a:solidFill>
                <a:latin typeface="Arial"/>
              </a:rPr>
              <a:t>Dritte Ebene</a:t>
            </a:r>
            <a:endParaRPr b="0" lang="de-DE" sz="1350" spc="-1" strike="noStrike">
              <a:solidFill>
                <a:schemeClr val="dk1"/>
              </a:solidFill>
              <a:latin typeface="Arial"/>
            </a:endParaRPr>
          </a:p>
          <a:p>
            <a:pPr lvl="3" marL="1285920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Symbol" charset="2"/>
              <a:buChar char=""/>
            </a:pPr>
            <a:r>
              <a:rPr b="0" lang="de-DE" sz="1200" spc="-1" strike="noStrike">
                <a:solidFill>
                  <a:schemeClr val="lt2"/>
                </a:solidFill>
                <a:latin typeface="Arial"/>
              </a:rPr>
              <a:t>Vierte Ebene</a:t>
            </a:r>
            <a:endParaRPr b="0" lang="de-DE" sz="1200" spc="-1" strike="noStrike">
              <a:solidFill>
                <a:schemeClr val="dk1"/>
              </a:solidFill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b="0" lang="de-DE" sz="1050" spc="-1" strike="noStrike">
                <a:solidFill>
                  <a:schemeClr val="lt2"/>
                </a:solidFill>
                <a:latin typeface="Arial"/>
              </a:rPr>
              <a:t>Fünfte Ebene</a:t>
            </a:r>
            <a:endParaRPr b="0" lang="de-DE" sz="1050" spc="-1" strike="noStrike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32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4729320"/>
            <a:ext cx="9144360" cy="360"/>
          </a:xfrm>
          <a:prstGeom prst="straightConnector1">
            <a:avLst/>
          </a:prstGeom>
          <a:ln w="12700">
            <a:solidFill>
              <a:srgbClr val="72777a"/>
            </a:solidFill>
          </a:ln>
        </p:spPr>
      </p:cxnSp>
      <p:cxnSp>
        <p:nvCxnSpPr>
          <p:cNvPr id="33" name="Gerader Verbinde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555040" y="4767480"/>
            <a:ext cx="360" cy="33408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sp>
        <p:nvSpPr>
          <p:cNvPr id="34" name="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idx="7"/>
          </p:nvPr>
        </p:nvSpPr>
        <p:spPr>
          <a:xfrm>
            <a:off x="2793240" y="4812480"/>
            <a:ext cx="56739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75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GB" sz="750" spc="-1" strike="noStrike">
                <a:solidFill>
                  <a:schemeClr val="dk1"/>
                </a:solidFill>
                <a:latin typeface="Arial"/>
              </a:rPr>
              <a:t>&lt;footer&gt;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idx="8"/>
          </p:nvPr>
        </p:nvSpPr>
        <p:spPr>
          <a:xfrm>
            <a:off x="8542080" y="4812480"/>
            <a:ext cx="4849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578964-150A-4C43-ADE6-E20BDA80EE11}" type="slidenum">
              <a:rPr b="0" lang="en-GB" sz="9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6" name="Grafik 11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4704480"/>
            <a:ext cx="696600" cy="4388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133800" y="3599280"/>
            <a:ext cx="5860800" cy="4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1" lang="de-DE" sz="2700" spc="-1" strike="noStrike">
                <a:solidFill>
                  <a:schemeClr val="lt1"/>
                </a:solidFill>
                <a:highlight>
                  <a:srgbClr val="72777a"/>
                </a:highlight>
                <a:latin typeface="Arial"/>
              </a:rPr>
              <a:t>Titel</a:t>
            </a:r>
            <a:endParaRPr b="0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3141720" y="4278960"/>
            <a:ext cx="586080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312"/>
          </a:bodyPr>
          <a:p>
            <a:pPr indent="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chemeClr val="lt1"/>
                </a:solidFill>
                <a:highlight>
                  <a:srgbClr val="72777a"/>
                </a:highlight>
                <a:latin typeface="Arial"/>
              </a:rPr>
              <a:t>Untertitel / Autor</a:t>
            </a:r>
            <a:endParaRPr b="0" lang="de-DE" sz="21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39" name="Grafik 4" descr="FH Technikum Wien - University of Applied Sciences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204920" y="1917000"/>
            <a:ext cx="3366720" cy="21214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331800" y="3216600"/>
            <a:ext cx="5694480" cy="43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615"/>
          </a:bodyPr>
          <a:p>
            <a:pPr indent="0" defTabSz="685800">
              <a:lnSpc>
                <a:spcPct val="90000"/>
              </a:lnSpc>
              <a:buNone/>
            </a:pPr>
            <a:r>
              <a:rPr b="1" lang="de-DE" sz="2700" spc="-1" strike="noStrike">
                <a:solidFill>
                  <a:schemeClr val="accent1"/>
                </a:solidFill>
                <a:latin typeface="Arial"/>
              </a:rPr>
              <a:t>Titel</a:t>
            </a:r>
            <a:endParaRPr b="0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3331800" y="3888000"/>
            <a:ext cx="569448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312"/>
          </a:bodyPr>
          <a:p>
            <a:pPr indent="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chemeClr val="accent1"/>
                </a:solidFill>
                <a:latin typeface="Arial"/>
              </a:rPr>
              <a:t>Untertitel / Autor</a:t>
            </a:r>
            <a:endParaRPr b="0" lang="de-DE" sz="21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42" name="Grafik 2" descr="FH Technikum Wien - University of Applied Sciences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77760" y="1020600"/>
            <a:ext cx="4171680" cy="26287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331800" y="3216600"/>
            <a:ext cx="5694480" cy="43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1" lang="de-DE" sz="2700" spc="-1" strike="noStrike">
                <a:solidFill>
                  <a:srgbClr val="005a96"/>
                </a:solidFill>
                <a:latin typeface="Arial"/>
              </a:rPr>
              <a:t>Titel</a:t>
            </a:r>
            <a:endParaRPr b="0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3331800" y="3888000"/>
            <a:ext cx="569448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312"/>
          </a:bodyPr>
          <a:p>
            <a:pPr indent="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rgbClr val="005a96"/>
                </a:solidFill>
                <a:latin typeface="Arial"/>
              </a:rPr>
              <a:t>Untertitel / Autor</a:t>
            </a:r>
            <a:endParaRPr b="0" lang="de-DE" sz="21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45" name="Grafik 4" descr="FH Technikum Wien - University of Applied Sciences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77760" y="1020600"/>
            <a:ext cx="4171680" cy="26287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058920" y="3582720"/>
            <a:ext cx="5215680" cy="53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685800">
              <a:lnSpc>
                <a:spcPct val="90000"/>
              </a:lnSpc>
              <a:buNone/>
            </a:pPr>
            <a:r>
              <a:rPr b="1" lang="de-DE" sz="2700" spc="-1" strike="noStrike">
                <a:solidFill>
                  <a:schemeClr val="accent1"/>
                </a:solidFill>
                <a:latin typeface="Arial"/>
              </a:rPr>
              <a:t>Titel</a:t>
            </a:r>
            <a:endParaRPr b="0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058920" y="4182120"/>
            <a:ext cx="521568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312"/>
          </a:bodyPr>
          <a:p>
            <a:pPr indent="0" algn="r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chemeClr val="accent1"/>
                </a:solidFill>
                <a:latin typeface="Arial"/>
              </a:rPr>
              <a:t>Untertitel / Autor</a:t>
            </a:r>
            <a:endParaRPr b="0" lang="de-DE" sz="21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48" name="Grafik 3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68680" y="-308520"/>
            <a:ext cx="7406280" cy="4165920"/>
          </a:xfrm>
          <a:prstGeom prst="rect">
            <a:avLst/>
          </a:prstGeom>
          <a:ln w="0">
            <a:noFill/>
          </a:ln>
        </p:spPr>
      </p:pic>
      <p:pic>
        <p:nvPicPr>
          <p:cNvPr id="49" name="Grafik 7" descr="FH Technikum Wien - University of Applied Sciences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12720" y="3214440"/>
            <a:ext cx="2621880" cy="16520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5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52000" y="1500840"/>
            <a:ext cx="8639640" cy="107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 defTabSz="685800">
              <a:lnSpc>
                <a:spcPct val="90000"/>
              </a:lnSpc>
              <a:buNone/>
            </a:pPr>
            <a:r>
              <a:rPr b="1" lang="de-DE" sz="4050" spc="-1" strike="noStrike">
                <a:solidFill>
                  <a:srgbClr val="72777a"/>
                </a:solidFill>
                <a:latin typeface="Arial"/>
              </a:rPr>
              <a:t>Präsentations Titel</a:t>
            </a:r>
            <a:br>
              <a:rPr sz="4050"/>
            </a:br>
            <a:r>
              <a:rPr b="1" lang="de-DE" sz="4050" spc="-1" strike="noStrike">
                <a:solidFill>
                  <a:srgbClr val="72777a"/>
                </a:solidFill>
                <a:latin typeface="Arial"/>
              </a:rPr>
              <a:t>(Arial Bold, 54pt)</a:t>
            </a:r>
            <a:endParaRPr b="0" lang="de-DE" sz="405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252000" y="2662920"/>
            <a:ext cx="863964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312"/>
          </a:bodyPr>
          <a:p>
            <a:pPr indent="0" algn="r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chemeClr val="accent1"/>
                </a:solidFill>
                <a:latin typeface="Arial"/>
              </a:rPr>
              <a:t>Untertitel / Autor</a:t>
            </a:r>
            <a:endParaRPr b="0" lang="de-DE" sz="21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52" name="Grafik 5" descr="FH Technikum Wien - University of Applied Sciences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-88920" y="3208680"/>
            <a:ext cx="3242160" cy="20430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52000" y="1499400"/>
            <a:ext cx="8639640" cy="107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 defTabSz="685800">
              <a:lnSpc>
                <a:spcPct val="90000"/>
              </a:lnSpc>
              <a:buNone/>
            </a:pPr>
            <a:r>
              <a:rPr b="1" lang="de-DE" sz="4050" spc="-1" strike="noStrike">
                <a:solidFill>
                  <a:srgbClr val="005a96"/>
                </a:solidFill>
                <a:latin typeface="Arial"/>
              </a:rPr>
              <a:t>Präsentations Titel</a:t>
            </a:r>
            <a:br>
              <a:rPr sz="4050"/>
            </a:br>
            <a:r>
              <a:rPr b="1" lang="de-DE" sz="4050" spc="-1" strike="noStrike">
                <a:solidFill>
                  <a:srgbClr val="005a96"/>
                </a:solidFill>
                <a:latin typeface="Arial"/>
              </a:rPr>
              <a:t>(Arial Bold, 54pt)</a:t>
            </a:r>
            <a:endParaRPr b="0" lang="de-DE" sz="405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252000" y="2659680"/>
            <a:ext cx="863964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312"/>
          </a:bodyPr>
          <a:p>
            <a:pPr indent="0" algn="r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rgbClr val="005a96"/>
                </a:solidFill>
                <a:latin typeface="Arial"/>
              </a:rPr>
              <a:t>Untertitel / Autor</a:t>
            </a:r>
            <a:endParaRPr b="0" lang="de-DE" sz="21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55" name="Grafik 5" descr="FH Technikum Wien - University of Applied Sciences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-111240" y="3186000"/>
            <a:ext cx="3242160" cy="20430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80000" y="114480"/>
            <a:ext cx="8775000" cy="4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49973" lnSpcReduction="10000"/>
          </a:bodyPr>
          <a:p>
            <a:pPr indent="0" defTabSz="685800">
              <a:lnSpc>
                <a:spcPct val="90000"/>
              </a:lnSpc>
              <a:buNone/>
            </a:pPr>
            <a:r>
              <a:rPr b="1" lang="de-DE" sz="2700" spc="-1" strike="noStrike">
                <a:solidFill>
                  <a:schemeClr val="dk1"/>
                </a:solidFill>
                <a:latin typeface="Arial"/>
              </a:rPr>
              <a:t>Folien Überschrift 1 (Arial Bold, 36pt)</a:t>
            </a:r>
            <a:br>
              <a:rPr sz="2700"/>
            </a:br>
            <a:endParaRPr b="0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180000" y="607680"/>
            <a:ext cx="8775000" cy="40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000000"/>
              </a:buClr>
              <a:buFont typeface="Arial"/>
              <a:buChar char="•"/>
            </a:pPr>
            <a:r>
              <a:rPr b="0" lang="de-DE" sz="2100" spc="-1" strike="noStrike">
                <a:solidFill>
                  <a:schemeClr val="dk1"/>
                </a:solidFill>
                <a:latin typeface="Arial"/>
              </a:rPr>
              <a:t>Mastertextformat bearbeiten</a:t>
            </a:r>
            <a:endParaRPr b="0" lang="de-DE" sz="2100" spc="-1" strike="noStrike">
              <a:solidFill>
                <a:schemeClr val="dk1"/>
              </a:solidFill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000000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dk1"/>
                </a:solidFill>
                <a:latin typeface="Arial"/>
              </a:rPr>
              <a:t>Zweite Ebene</a:t>
            </a:r>
            <a:endParaRPr b="0" lang="de-DE" sz="1800" spc="-1" strike="noStrike">
              <a:solidFill>
                <a:schemeClr val="dk1"/>
              </a:solidFill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000000"/>
              </a:buClr>
              <a:buFont typeface="Symbol" charset="2"/>
              <a:buChar char=""/>
            </a:pPr>
            <a:r>
              <a:rPr b="0" lang="de-DE" sz="1350" spc="-1" strike="noStrike">
                <a:solidFill>
                  <a:schemeClr val="dk1"/>
                </a:solidFill>
                <a:latin typeface="Arial"/>
              </a:rPr>
              <a:t>Dritte Ebene</a:t>
            </a:r>
            <a:endParaRPr b="0" lang="de-DE" sz="1350" spc="-1" strike="noStrike">
              <a:solidFill>
                <a:schemeClr val="dk1"/>
              </a:solidFill>
              <a:latin typeface="Arial"/>
            </a:endParaRPr>
          </a:p>
          <a:p>
            <a:pPr lvl="3" marL="128592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de-DE" sz="1200" spc="-1" strike="noStrike">
                <a:solidFill>
                  <a:schemeClr val="dk1"/>
                </a:solidFill>
                <a:latin typeface="Arial"/>
              </a:rPr>
              <a:t>Vierte Ebene</a:t>
            </a:r>
            <a:endParaRPr b="0" lang="de-DE" sz="1200" spc="-1" strike="noStrike">
              <a:solidFill>
                <a:schemeClr val="dk1"/>
              </a:solidFill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050" spc="-1" strike="noStrike">
                <a:solidFill>
                  <a:schemeClr val="dk1"/>
                </a:solidFill>
                <a:latin typeface="Arial"/>
              </a:rPr>
              <a:t>Fünfte Ebene</a:t>
            </a:r>
            <a:endParaRPr b="0" lang="de-DE" sz="1050" spc="-1" strike="noStrike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58" name="Gerader Verbinde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555040" y="4767480"/>
            <a:ext cx="360" cy="33408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59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4736880"/>
            <a:ext cx="9144360" cy="360"/>
          </a:xfrm>
          <a:prstGeom prst="straightConnector1">
            <a:avLst/>
          </a:prstGeom>
          <a:ln w="12700">
            <a:solidFill>
              <a:srgbClr val="72777a"/>
            </a:solidFill>
          </a:ln>
        </p:spPr>
      </p:cxnSp>
      <p:sp>
        <p:nvSpPr>
          <p:cNvPr id="60" name="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idx="9"/>
          </p:nvPr>
        </p:nvSpPr>
        <p:spPr>
          <a:xfrm>
            <a:off x="2793240" y="4812480"/>
            <a:ext cx="56739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75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GB" sz="750" spc="-1" strike="noStrike">
                <a:solidFill>
                  <a:schemeClr val="dk1"/>
                </a:solidFill>
                <a:latin typeface="Arial"/>
              </a:rPr>
              <a:t>&lt;footer&gt;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8542080" y="4812480"/>
            <a:ext cx="4849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38EDE7-817E-459D-8DB2-0D26A2645ACF}" type="slidenum">
              <a:rPr b="0" lang="en-GB" sz="9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2" name="Grafik 8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4704480"/>
            <a:ext cx="696600" cy="4388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80000" y="114480"/>
            <a:ext cx="8783640" cy="4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49973" lnSpcReduction="10000"/>
          </a:bodyPr>
          <a:p>
            <a:pPr indent="0" defTabSz="685800">
              <a:lnSpc>
                <a:spcPct val="90000"/>
              </a:lnSpc>
              <a:buNone/>
            </a:pPr>
            <a:r>
              <a:rPr b="1" lang="de-DE" sz="2700" spc="-1" strike="noStrike">
                <a:solidFill>
                  <a:schemeClr val="dk1"/>
                </a:solidFill>
                <a:latin typeface="Arial"/>
              </a:rPr>
              <a:t>Folien Überschrift 1 (Arial Bold, 36pt)</a:t>
            </a:r>
            <a:br>
              <a:rPr sz="2700"/>
            </a:br>
            <a:endParaRPr b="0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179280" y="607680"/>
            <a:ext cx="4319640" cy="40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000000"/>
              </a:buClr>
              <a:buFont typeface="Arial"/>
              <a:buChar char="•"/>
            </a:pPr>
            <a:r>
              <a:rPr b="0" lang="de-DE" sz="2100" spc="-1" strike="noStrike">
                <a:solidFill>
                  <a:schemeClr val="dk1"/>
                </a:solidFill>
                <a:latin typeface="Arial"/>
              </a:rPr>
              <a:t>Mastertextformat bearbeiten</a:t>
            </a:r>
            <a:endParaRPr b="0" lang="de-DE" sz="2100" spc="-1" strike="noStrike">
              <a:solidFill>
                <a:schemeClr val="dk1"/>
              </a:solidFill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000000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dk1"/>
                </a:solidFill>
                <a:latin typeface="Arial"/>
              </a:rPr>
              <a:t>Zweite Ebene</a:t>
            </a:r>
            <a:endParaRPr b="0" lang="de-DE" sz="1800" spc="-1" strike="noStrike">
              <a:solidFill>
                <a:schemeClr val="dk1"/>
              </a:solidFill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000000"/>
              </a:buClr>
              <a:buFont typeface="Symbol" charset="2"/>
              <a:buChar char=""/>
            </a:pPr>
            <a:r>
              <a:rPr b="0" lang="de-DE" sz="1350" spc="-1" strike="noStrike">
                <a:solidFill>
                  <a:schemeClr val="dk1"/>
                </a:solidFill>
                <a:latin typeface="Arial"/>
              </a:rPr>
              <a:t>Dritte Ebene</a:t>
            </a:r>
            <a:endParaRPr b="0" lang="de-DE" sz="1350" spc="-1" strike="noStrike">
              <a:solidFill>
                <a:schemeClr val="dk1"/>
              </a:solidFill>
              <a:latin typeface="Arial"/>
            </a:endParaRPr>
          </a:p>
          <a:p>
            <a:pPr lvl="3" marL="128592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de-DE" sz="1200" spc="-1" strike="noStrike">
                <a:solidFill>
                  <a:schemeClr val="dk1"/>
                </a:solidFill>
                <a:latin typeface="Arial"/>
              </a:rPr>
              <a:t>Vierte Ebene</a:t>
            </a:r>
            <a:endParaRPr b="0" lang="de-DE" sz="1200" spc="-1" strike="noStrike">
              <a:solidFill>
                <a:schemeClr val="dk1"/>
              </a:solidFill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050" spc="-1" strike="noStrike">
                <a:solidFill>
                  <a:schemeClr val="dk1"/>
                </a:solidFill>
                <a:latin typeface="Arial"/>
              </a:rPr>
              <a:t>Fünfte Ebene</a:t>
            </a:r>
            <a:endParaRPr b="0" lang="de-DE" sz="105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44720" y="607680"/>
            <a:ext cx="4319640" cy="40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000000"/>
              </a:buClr>
              <a:buFont typeface="Arial"/>
              <a:buChar char="•"/>
            </a:pPr>
            <a:r>
              <a:rPr b="0" lang="de-DE" sz="2100" spc="-1" strike="noStrike">
                <a:solidFill>
                  <a:schemeClr val="dk1"/>
                </a:solidFill>
                <a:latin typeface="Arial"/>
              </a:rPr>
              <a:t>Mastertextformat bearbeiten</a:t>
            </a:r>
            <a:endParaRPr b="0" lang="de-DE" sz="2100" spc="-1" strike="noStrike">
              <a:solidFill>
                <a:schemeClr val="dk1"/>
              </a:solidFill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000000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dk1"/>
                </a:solidFill>
                <a:latin typeface="Arial"/>
              </a:rPr>
              <a:t>Zweite Ebene</a:t>
            </a:r>
            <a:endParaRPr b="0" lang="de-DE" sz="1800" spc="-1" strike="noStrike">
              <a:solidFill>
                <a:schemeClr val="dk1"/>
              </a:solidFill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spcAft>
                <a:spcPts val="374"/>
              </a:spcAft>
              <a:buClr>
                <a:srgbClr val="000000"/>
              </a:buClr>
              <a:buFont typeface="Symbol" charset="2"/>
              <a:buChar char=""/>
            </a:pPr>
            <a:r>
              <a:rPr b="0" lang="de-DE" sz="1350" spc="-1" strike="noStrike">
                <a:solidFill>
                  <a:schemeClr val="dk1"/>
                </a:solidFill>
                <a:latin typeface="Arial"/>
              </a:rPr>
              <a:t>Dritte Ebene</a:t>
            </a:r>
            <a:endParaRPr b="0" lang="de-DE" sz="1350" spc="-1" strike="noStrike">
              <a:solidFill>
                <a:schemeClr val="dk1"/>
              </a:solidFill>
              <a:latin typeface="Arial"/>
            </a:endParaRPr>
          </a:p>
          <a:p>
            <a:pPr lvl="3" marL="128592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de-DE" sz="1200" spc="-1" strike="noStrike">
                <a:solidFill>
                  <a:schemeClr val="dk1"/>
                </a:solidFill>
                <a:latin typeface="Arial"/>
              </a:rPr>
              <a:t>Vierte Ebene</a:t>
            </a:r>
            <a:endParaRPr b="0" lang="de-DE" sz="1200" spc="-1" strike="noStrike">
              <a:solidFill>
                <a:schemeClr val="dk1"/>
              </a:solidFill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050" spc="-1" strike="noStrike">
                <a:solidFill>
                  <a:schemeClr val="dk1"/>
                </a:solidFill>
                <a:latin typeface="Arial"/>
              </a:rPr>
              <a:t>Fünfte Ebene</a:t>
            </a:r>
            <a:endParaRPr b="0" lang="de-DE" sz="1050" spc="-1" strike="noStrike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66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4729320"/>
            <a:ext cx="9144360" cy="360"/>
          </a:xfrm>
          <a:prstGeom prst="straightConnector1">
            <a:avLst/>
          </a:prstGeom>
          <a:ln w="12700">
            <a:solidFill>
              <a:srgbClr val="72777a"/>
            </a:solidFill>
          </a:ln>
        </p:spPr>
      </p:cxnSp>
      <p:cxnSp>
        <p:nvCxnSpPr>
          <p:cNvPr id="67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555040" y="4767480"/>
            <a:ext cx="360" cy="33408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sp>
        <p:nvSpPr>
          <p:cNvPr id="68" name="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793240" y="4812480"/>
            <a:ext cx="56739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75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GB" sz="750" spc="-1" strike="noStrike">
                <a:solidFill>
                  <a:schemeClr val="dk1"/>
                </a:solidFill>
                <a:latin typeface="Arial"/>
              </a:rPr>
              <a:t>&lt;footer&gt;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42080" y="4812480"/>
            <a:ext cx="4849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6E8693-5618-4AA6-B4B7-7848BA1BB6E3}" type="slidenum">
              <a:rPr b="0" lang="en-GB" sz="9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0" name="Grafik 9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4704480"/>
            <a:ext cx="696600" cy="4388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4"/>
  </p:sldLayoutIdLst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129120" y="3599280"/>
            <a:ext cx="5897160" cy="4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15"/>
          </a:bodyPr>
          <a:p>
            <a:r>
              <a:rPr sz="2700" b="1">
                <a:solidFill>
                  <a:srgbClr val="FFFFFF"/>
                </a:solidFill>
                <a:latin typeface="Arial"/>
              </a:rPr>
              <a:t>Kiro: Tool for Architecture</a:t>
            </a:r>
          </a:p>
          <a:p>
            <a:r>
              <a:rPr sz="2700" b="1">
                <a:solidFill>
                  <a:srgbClr val="FFFFFF"/>
                </a:solidFill>
                <a:latin typeface="Arial"/>
              </a:rPr>
              <a:t>Development &amp; Documentation</a:t>
            </a: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3129120" y="4294440"/>
            <a:ext cx="58971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312"/>
          </a:bodyPr>
          <a:p>
            <a:r>
              <a:rPr sz="2100">
                <a:solidFill>
                  <a:srgbClr val="FFFFFF"/>
                </a:solidFill>
                <a:latin typeface="Arial"/>
              </a:rPr>
              <a:t>Practical Evaluation</a:t>
            </a:r>
          </a:p>
          <a:p/>
          <a:p>
            <a:r>
              <a:rPr sz="2100">
                <a:solidFill>
                  <a:srgbClr val="FFFFFF"/>
                </a:solidFill>
                <a:latin typeface="Arial"/>
              </a:rPr>
              <a:t>Alexander Nachtmann</a:t>
            </a:r>
          </a:p>
          <a:p>
            <a:r>
              <a:rPr sz="2100">
                <a:solidFill>
                  <a:srgbClr val="FFFFFF"/>
                </a:solidFill>
                <a:latin typeface="Arial"/>
              </a:rPr>
              <a:t>Software Architecture</a:t>
            </a:r>
          </a:p>
          <a:p>
            <a:r>
              <a:rPr sz="2100">
                <a:solidFill>
                  <a:srgbClr val="FFFFFF"/>
                </a:solidFill>
                <a:latin typeface="Arial"/>
              </a:rPr>
              <a:t>FH Technikum Wien</a:t>
            </a:r>
          </a:p>
          <a:p>
            <a:r>
              <a:rPr sz="2100">
                <a:solidFill>
                  <a:srgbClr val="FFFFFF"/>
                </a:solidFill>
                <a:latin typeface="Arial"/>
              </a:rPr>
              <a:t>November 2025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80000" y="114480"/>
            <a:ext cx="8775000" cy="4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15"/>
          </a:bodyPr>
          <a:p>
            <a:pPr indent="0">
              <a:buNone/>
            </a:pPr>
            <a:endParaRPr b="1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80000" y="607680"/>
            <a:ext cx="8775000" cy="40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1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9" name="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2793240" y="4812480"/>
            <a:ext cx="56739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75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GB" sz="750" spc="-1" strike="noStrike">
                <a:solidFill>
                  <a:schemeClr val="dk1"/>
                </a:solidFill>
                <a:latin typeface="Arial"/>
              </a:rPr>
              <a:t>Präsentationstitel | Name | Datum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8542080" y="4812480"/>
            <a:ext cx="4849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C44F6C-3922-4D75-AA00-CC844DC72FBC}" type="slidenum">
              <a:rPr b="0" lang="en-GB" sz="9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5A96"/>
                </a:solidFill>
                <a:latin typeface="Arial"/>
              </a:defRPr>
            </a:pPr>
            <a:r>
              <a:t>Overview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595959"/>
                </a:solidFill>
                <a:latin typeface="Arial"/>
              </a:defRPr>
            </a:pPr>
            <a:r>
              <a:t>What: AI-powered development environment for architecture work</a:t>
            </a:r>
            <a:br/>
            <a:br/>
            <a:r>
              <a:t>Type: Agentic IDE (based on VS Code)</a:t>
            </a:r>
            <a:br/>
            <a:br/>
            <a:r>
              <a:t>Developer: AWS team</a:t>
            </a:r>
            <a:br/>
            <a:br/>
            <a:r>
              <a:t>Release: July 2025 (4 major updates since launch)</a:t>
            </a:r>
            <a:br/>
            <a:br/>
            <a:r>
              <a:t>Core Idea: Transform natural language into structured specifications,</a:t>
            </a:r>
            <a:br/>
            <a:r>
              <a:t>then into working systems with maintained documentation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88920" y="4809744"/>
            <a:ext cx="56784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95959"/>
                </a:solidFill>
                <a:latin typeface="Arial"/>
              </a:defRPr>
            </a:pPr>
            <a:r>
              <a:t>Kiro Architecture Tool | Alexander Nachtmann | November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80000" y="114480"/>
            <a:ext cx="8775000" cy="4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15"/>
          </a:bodyPr>
          <a:p>
            <a:pPr indent="0">
              <a:buNone/>
            </a:pPr>
            <a:endParaRPr b="1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80000" y="607680"/>
            <a:ext cx="8775000" cy="40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1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9" name="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2793240" y="4812480"/>
            <a:ext cx="56739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75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GB" sz="750" spc="-1" strike="noStrike">
                <a:solidFill>
                  <a:schemeClr val="dk1"/>
                </a:solidFill>
                <a:latin typeface="Arial"/>
              </a:rPr>
              <a:t>Präsentationstitel | Name | Datum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8542080" y="4812480"/>
            <a:ext cx="4849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C44F6C-3922-4D75-AA00-CC844DC72FBC}" type="slidenum">
              <a:rPr b="0" lang="en-GB" sz="9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5A96"/>
                </a:solidFill>
                <a:latin typeface="Arial"/>
              </a:defRPr>
            </a:pPr>
            <a:r>
              <a:t>Context - The Documentation Problem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595959"/>
                </a:solidFill>
                <a:latin typeface="Arial"/>
              </a:defRPr>
            </a:pPr>
            <a:r>
              <a:t>Common Issues in Software Architecture:</a:t>
            </a:r>
            <a:br/>
            <a:br/>
            <a:r>
              <a:t>1. Requirements -&gt; Code Gap</a:t>
            </a:r>
            <a:br/>
            <a:r>
              <a:t>   - Design documents don't match implementation</a:t>
            </a:r>
            <a:br/>
            <a:r>
              <a:t>   - Architecture diagrams outdated after 2 weeks</a:t>
            </a:r>
            <a:br/>
            <a:br/>
            <a:r>
              <a:t>2. Documentation Maintenance</a:t>
            </a:r>
            <a:br/>
            <a:r>
              <a:t>   - Manual updates take time, READMEs lag behind</a:t>
            </a:r>
            <a:br/>
            <a:br/>
            <a:r>
              <a:t>3. Knowledge Transfer</a:t>
            </a:r>
            <a:br/>
            <a:r>
              <a:t>   - Onboarding takes weeks</a:t>
            </a:r>
            <a:br/>
            <a:r>
              <a:t>   - Architectural decisions not documented</a:t>
            </a:r>
            <a:br/>
            <a:br/>
            <a:r>
              <a:t>Question: Can tooling help maintain docs automatically?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88920" y="4809744"/>
            <a:ext cx="56784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95959"/>
                </a:solidFill>
                <a:latin typeface="Arial"/>
              </a:defRPr>
            </a:pPr>
            <a:r>
              <a:t>Kiro Architecture Tool | Alexander Nachtmann | November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80000" y="114480"/>
            <a:ext cx="8775000" cy="4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15"/>
          </a:bodyPr>
          <a:p>
            <a:pPr indent="0">
              <a:buNone/>
            </a:pPr>
            <a:endParaRPr b="1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80000" y="607680"/>
            <a:ext cx="8775000" cy="40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1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9" name="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2793240" y="4812480"/>
            <a:ext cx="56739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75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GB" sz="750" spc="-1" strike="noStrike">
                <a:solidFill>
                  <a:schemeClr val="dk1"/>
                </a:solidFill>
                <a:latin typeface="Arial"/>
              </a:rPr>
              <a:t>Präsentationstitel | Name | Datum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8542080" y="4812480"/>
            <a:ext cx="4849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C44F6C-3922-4D75-AA00-CC844DC72FBC}" type="slidenum">
              <a:rPr b="0" lang="en-GB" sz="9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5A96"/>
                </a:solidFill>
                <a:latin typeface="Arial"/>
              </a:defRPr>
            </a:pPr>
            <a:r>
              <a:t>Core Concept - Spec-Driven Development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595959"/>
                </a:solidFill>
                <a:latin typeface="Arial"/>
              </a:defRPr>
            </a:pPr>
            <a:r>
              <a:t>Three-Phase Workflow:</a:t>
            </a:r>
            <a:br/>
            <a:br/>
            <a:r>
              <a:t>Phase 1: Requirements</a:t>
            </a:r>
            <a:br/>
            <a:r>
              <a:t>  User stories, Acceptance criteria, EARS notation</a:t>
            </a:r>
            <a:br/>
            <a:r>
              <a:t>  Output: requirements.md</a:t>
            </a:r>
            <a:br/>
            <a:br/>
            <a:r>
              <a:t>Phase 2: Design</a:t>
            </a:r>
            <a:br/>
            <a:r>
              <a:t>  Architecture docs, Component diagrams, Sequence diagrams</a:t>
            </a:r>
            <a:br/>
            <a:r>
              <a:t>  Output: design.md</a:t>
            </a:r>
            <a:br/>
            <a:br/>
            <a:r>
              <a:t>Phase 3: Implementation</a:t>
            </a:r>
            <a:br/>
            <a:r>
              <a:t>  Discrete tasks, Dependencies mapped, Verification criteria</a:t>
            </a:r>
            <a:br/>
            <a:r>
              <a:t>  Output: tasks.md</a:t>
            </a:r>
            <a:br/>
            <a:br/>
            <a:r>
              <a:t>Key Feature: All three files linked - changes cascade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88920" y="4809744"/>
            <a:ext cx="56784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95959"/>
                </a:solidFill>
                <a:latin typeface="Arial"/>
              </a:defRPr>
            </a:pPr>
            <a:r>
              <a:t>Kiro Architecture Tool | Alexander Nachtmann | November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80000" y="114480"/>
            <a:ext cx="8775000" cy="4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15"/>
          </a:bodyPr>
          <a:p>
            <a:pPr indent="0">
              <a:buNone/>
            </a:pPr>
            <a:endParaRPr b="1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80000" y="607680"/>
            <a:ext cx="8775000" cy="40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1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9" name="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2793240" y="4812480"/>
            <a:ext cx="56739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75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GB" sz="750" spc="-1" strike="noStrike">
                <a:solidFill>
                  <a:schemeClr val="dk1"/>
                </a:solidFill>
                <a:latin typeface="Arial"/>
              </a:rPr>
              <a:t>Präsentationstitel | Name | Datum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8542080" y="4812480"/>
            <a:ext cx="4849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C44F6C-3922-4D75-AA00-CC844DC72FBC}" type="slidenum">
              <a:rPr b="0" lang="en-GB" sz="9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5A96"/>
                </a:solidFill>
                <a:latin typeface="Arial"/>
              </a:defRPr>
            </a:pPr>
            <a:r>
              <a:t>Architecture Documentation Features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595959"/>
                </a:solidFill>
                <a:latin typeface="Arial"/>
              </a:defRPr>
            </a:pPr>
            <a:r>
              <a:t>What Kiro Generates from Natural Language:</a:t>
            </a:r>
            <a:br/>
            <a:br/>
            <a:r>
              <a:t>1. Component Diagrams (Mermaid/PlantUML, Git-versioned)</a:t>
            </a:r>
            <a:br/>
            <a:br/>
            <a:r>
              <a:t>2. Sequence Diagrams (API flows, System interactions)</a:t>
            </a:r>
            <a:br/>
            <a:br/>
            <a:r>
              <a:t>3. Architecture Decision Records (ADRs)</a:t>
            </a:r>
            <a:br/>
            <a:r>
              <a:t>   Context -&gt; Decision -&gt; Rationale -&gt; Consequences</a:t>
            </a:r>
            <a:br/>
            <a:br/>
            <a:r>
              <a:t>4. Traceability Chain</a:t>
            </a:r>
            <a:br/>
            <a:r>
              <a:t>   Requirement -&gt; Design Decision -&gt; Implementation Task</a:t>
            </a:r>
            <a:br/>
            <a:r>
              <a:t>   -&gt; Test Case -&gt; Code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88920" y="4809744"/>
            <a:ext cx="56784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95959"/>
                </a:solidFill>
                <a:latin typeface="Arial"/>
              </a:defRPr>
            </a:pPr>
            <a:r>
              <a:t>Kiro Architecture Tool | Alexander Nachtmann | November 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80000" y="114480"/>
            <a:ext cx="8775000" cy="4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15"/>
          </a:bodyPr>
          <a:p>
            <a:pPr indent="0">
              <a:buNone/>
            </a:pPr>
            <a:endParaRPr b="1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80000" y="607680"/>
            <a:ext cx="8775000" cy="40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1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9" name="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2793240" y="4812480"/>
            <a:ext cx="56739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75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GB" sz="750" spc="-1" strike="noStrike">
                <a:solidFill>
                  <a:schemeClr val="dk1"/>
                </a:solidFill>
                <a:latin typeface="Arial"/>
              </a:rPr>
              <a:t>Präsentationstitel | Name | Datum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8542080" y="4812480"/>
            <a:ext cx="4849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C44F6C-3922-4D75-AA00-CC844DC72FBC}" type="slidenum">
              <a:rPr b="0" lang="en-GB" sz="9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5A96"/>
                </a:solidFill>
                <a:latin typeface="Arial"/>
              </a:defRPr>
            </a:pPr>
            <a:r>
              <a:t>Example - Financial Trading System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595959"/>
                </a:solidFill>
                <a:latin typeface="Arial"/>
              </a:defRPr>
            </a:pPr>
            <a:r>
              <a:t>Input: Photo of whiteboard ERD sketch</a:t>
            </a:r>
            <a:br/>
            <a:br/>
            <a:r>
              <a:t>Prompt: Build financial trading system with regulatory compliance.</a:t>
            </a:r>
            <a:br/>
            <a:r>
              <a:t>Requirements: order validation, real-time market data, audit trails.</a:t>
            </a:r>
            <a:br/>
            <a:br/>
            <a:r>
              <a:t>Kiro Output:</a:t>
            </a:r>
            <a:br/>
            <a:r>
              <a:t>- requirements.md: User auth (KYC/AML), Market data, Validation</a:t>
            </a:r>
            <a:br/>
            <a:r>
              <a:t>- design.md: Kubernetes architecture, PostgreSQL + TimescaleDB,</a:t>
            </a:r>
            <a:br/>
            <a:r>
              <a:t>  Kafka event streaming, Security architecture</a:t>
            </a:r>
            <a:br/>
            <a:r>
              <a:t>- tasks.md: Implementation tasks with priorities</a:t>
            </a:r>
            <a:br/>
            <a:br/>
            <a:r>
              <a:t>Time: Days instead of weeks for architecture documentation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88920" y="4809744"/>
            <a:ext cx="56784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95959"/>
                </a:solidFill>
                <a:latin typeface="Arial"/>
              </a:defRPr>
            </a:pPr>
            <a:r>
              <a:t>Kiro Architecture Tool | Alexander Nachtmann | November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80000" y="114480"/>
            <a:ext cx="8775000" cy="4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15"/>
          </a:bodyPr>
          <a:p>
            <a:pPr indent="0">
              <a:buNone/>
            </a:pPr>
            <a:endParaRPr b="1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80000" y="607680"/>
            <a:ext cx="8775000" cy="40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1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9" name="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2793240" y="4812480"/>
            <a:ext cx="56739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75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GB" sz="750" spc="-1" strike="noStrike">
                <a:solidFill>
                  <a:schemeClr val="dk1"/>
                </a:solidFill>
                <a:latin typeface="Arial"/>
              </a:rPr>
              <a:t>Präsentationstitel | Name | Datum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8542080" y="4812480"/>
            <a:ext cx="4849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C44F6C-3922-4D75-AA00-CC844DC72FBC}" type="slidenum">
              <a:rPr b="0" lang="en-GB" sz="9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5A96"/>
                </a:solidFill>
                <a:latin typeface="Arial"/>
              </a:defRPr>
            </a:pPr>
            <a:r>
              <a:t>Persistent Context - Steering Files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595959"/>
                </a:solidFill>
                <a:latin typeface="Arial"/>
              </a:defRPr>
            </a:pPr>
            <a:r>
              <a:t>Problem: Repeating coding standards across every project</a:t>
            </a:r>
            <a:br/>
            <a:br/>
            <a:r>
              <a:t>Solution: Steering files provide persistent AI context</a:t>
            </a:r>
            <a:br/>
            <a:br/>
            <a:r>
              <a:t>Three Levels:</a:t>
            </a:r>
            <a:br/>
            <a:r>
              <a:t>1. Global (~/.kiro/steering/) - Personal preferences</a:t>
            </a:r>
            <a:br/>
            <a:r>
              <a:t>   Coding style, Testing approach, Security baseline</a:t>
            </a:r>
            <a:br/>
            <a:br/>
            <a:r>
              <a:t>2. Team (deployed via MDM/Git) - Organization standards</a:t>
            </a:r>
            <a:br/>
            <a:r>
              <a:t>   Company policies, Code review guidelines</a:t>
            </a:r>
            <a:br/>
            <a:br/>
            <a:r>
              <a:t>3. Workspace (.kiro/steering/) - Project-specific</a:t>
            </a:r>
            <a:br/>
            <a:r>
              <a:t>   Technology stack, Project structure</a:t>
            </a:r>
            <a:br/>
            <a:br/>
            <a:r>
              <a:t>Result: Standards enforced automatically across all projects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88920" y="4809744"/>
            <a:ext cx="56784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95959"/>
                </a:solidFill>
                <a:latin typeface="Arial"/>
              </a:defRPr>
            </a:pPr>
            <a:r>
              <a:t>Kiro Architecture Tool | Alexander Nachtmann | November 2025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80000" y="114480"/>
            <a:ext cx="8775000" cy="4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15"/>
          </a:bodyPr>
          <a:p>
            <a:pPr indent="0">
              <a:buNone/>
            </a:pPr>
            <a:endParaRPr b="1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80000" y="607680"/>
            <a:ext cx="8775000" cy="40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1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9" name="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2793240" y="4812480"/>
            <a:ext cx="56739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75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GB" sz="750" spc="-1" strike="noStrike">
                <a:solidFill>
                  <a:schemeClr val="dk1"/>
                </a:solidFill>
                <a:latin typeface="Arial"/>
              </a:rPr>
              <a:t>Präsentationstitel | Name | Datum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8542080" y="4812480"/>
            <a:ext cx="4849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C44F6C-3922-4D75-AA00-CC844DC72FBC}" type="slidenum">
              <a:rPr b="0" lang="en-GB" sz="9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5A96"/>
                </a:solidFill>
                <a:latin typeface="Arial"/>
              </a:defRPr>
            </a:pPr>
            <a:r>
              <a:t>Automation - Agent Hooks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595959"/>
                </a:solidFill>
                <a:latin typeface="Arial"/>
              </a:defRPr>
            </a:pPr>
            <a:r>
              <a:t>Concept: Event-driven automation</a:t>
            </a:r>
            <a:br/>
            <a:br/>
            <a:r>
              <a:t>How It Works:</a:t>
            </a:r>
            <a:br/>
            <a:r>
              <a:t>Event (file save) -&gt; Trigger -&gt; Agent executes -&gt; Updates docs</a:t>
            </a:r>
            <a:br/>
            <a:br/>
            <a:r>
              <a:t>Example: API Documentation Sync</a:t>
            </a:r>
            <a:br/>
            <a:r>
              <a:t>When Python file edited:</a:t>
            </a:r>
            <a:br/>
            <a:r>
              <a:t>  - Scan for new/removed APIs</a:t>
            </a:r>
            <a:br/>
            <a:r>
              <a:t>  - Update OpenAPI YAML</a:t>
            </a:r>
            <a:br/>
            <a:r>
              <a:t>  - Update README</a:t>
            </a:r>
            <a:br/>
            <a:r>
              <a:t>  - Generate CHANGELOG</a:t>
            </a:r>
            <a:br/>
            <a:br/>
            <a:r>
              <a:t>Common Use Cases:</a:t>
            </a:r>
            <a:br/>
            <a:r>
              <a:t>- Documentation updates on code changes</a:t>
            </a:r>
            <a:br/>
            <a:r>
              <a:t>- Test generation, Architecture diagram updates</a:t>
            </a:r>
            <a:br/>
            <a:br/>
            <a:r>
              <a:t>Benefit: Documentation never falls behind code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88920" y="4809744"/>
            <a:ext cx="56784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95959"/>
                </a:solidFill>
                <a:latin typeface="Arial"/>
              </a:defRPr>
            </a:pPr>
            <a:r>
              <a:t>Kiro Architecture Tool | Alexander Nachtmann | November 2025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80000" y="114480"/>
            <a:ext cx="8775000" cy="4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15"/>
          </a:bodyPr>
          <a:p>
            <a:pPr indent="0">
              <a:buNone/>
            </a:pPr>
            <a:endParaRPr b="1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80000" y="607680"/>
            <a:ext cx="8775000" cy="40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1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9" name="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2793240" y="4812480"/>
            <a:ext cx="56739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75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GB" sz="750" spc="-1" strike="noStrike">
                <a:solidFill>
                  <a:schemeClr val="dk1"/>
                </a:solidFill>
                <a:latin typeface="Arial"/>
              </a:rPr>
              <a:t>Präsentationstitel | Name | Datum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8542080" y="4812480"/>
            <a:ext cx="4849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C44F6C-3922-4D75-AA00-CC844DC72FBC}" type="slidenum">
              <a:rPr b="0" lang="en-GB" sz="9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5A96"/>
                </a:solidFill>
                <a:latin typeface="Arial"/>
              </a:defRPr>
            </a:pPr>
            <a:r>
              <a:t>Multimodal Input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595959"/>
                </a:solidFill>
                <a:latin typeface="Arial"/>
              </a:defRPr>
            </a:pPr>
            <a:r>
              <a:t>Feature: Upload visual artifacts directly</a:t>
            </a:r>
            <a:br/>
            <a:br/>
            <a:r>
              <a:t>Supported Inputs:</a:t>
            </a:r>
            <a:br/>
            <a:r>
              <a:t>- Whiteboard sketches</a:t>
            </a:r>
            <a:br/>
            <a:r>
              <a:t>- Architecture diagrams</a:t>
            </a:r>
            <a:br/>
            <a:r>
              <a:t>- UML diagrams, Flowcharts</a:t>
            </a:r>
            <a:br/>
            <a:br/>
            <a:r>
              <a:t>Process:</a:t>
            </a:r>
            <a:br/>
            <a:r>
              <a:t>1. Draw architecture on whiteboard</a:t>
            </a:r>
            <a:br/>
            <a:r>
              <a:t>2. Take photo, upload to Kiro</a:t>
            </a:r>
            <a:br/>
            <a:r>
              <a:t>3. Kiro recognizes entities and relationships</a:t>
            </a:r>
            <a:br/>
            <a:r>
              <a:t>4. Generates: Code models, Database schema,</a:t>
            </a:r>
            <a:br/>
            <a:r>
              <a:t>   Infrastructure configs, Updated diagrams</a:t>
            </a:r>
            <a:br/>
            <a:br/>
            <a:r>
              <a:t>Advantage: No manual translation of design to code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88920" y="4809744"/>
            <a:ext cx="56784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95959"/>
                </a:solidFill>
                <a:latin typeface="Arial"/>
              </a:defRPr>
            </a:pPr>
            <a:r>
              <a:t>Kiro Architecture Tool | Alexander Nachtmann | November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80000" y="114480"/>
            <a:ext cx="8775000" cy="4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15"/>
          </a:bodyPr>
          <a:p>
            <a:pPr indent="0">
              <a:buNone/>
            </a:pPr>
            <a:endParaRPr b="1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80000" y="607680"/>
            <a:ext cx="8775000" cy="40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1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9" name="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2793240" y="4812480"/>
            <a:ext cx="56739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75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GB" sz="750" spc="-1" strike="noStrike">
                <a:solidFill>
                  <a:schemeClr val="dk1"/>
                </a:solidFill>
                <a:latin typeface="Arial"/>
              </a:rPr>
              <a:t>Präsentationstitel | Name | Datum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8542080" y="4812480"/>
            <a:ext cx="4849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C44F6C-3922-4D75-AA00-CC844DC72FBC}" type="slidenum">
              <a:rPr b="0" lang="en-GB" sz="9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5A96"/>
                </a:solidFill>
                <a:latin typeface="Arial"/>
              </a:defRPr>
            </a:pPr>
            <a:r>
              <a:t>Extensibility - MCP Integration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595959"/>
                </a:solidFill>
                <a:latin typeface="Arial"/>
              </a:defRPr>
            </a:pPr>
            <a:r>
              <a:t>Model Context Protocol: Standard for connecting AI to external tools</a:t>
            </a:r>
            <a:br/>
            <a:br/>
            <a:r>
              <a:t>What You Can Connect:</a:t>
            </a:r>
            <a:br/>
            <a:br/>
            <a:r>
              <a:t>Local Tools:</a:t>
            </a:r>
            <a:br/>
            <a:r>
              <a:t>  - AWS documentation</a:t>
            </a:r>
            <a:br/>
            <a:r>
              <a:t>  - Custom CLI tools</a:t>
            </a:r>
            <a:br/>
            <a:br/>
            <a:r>
              <a:t>Remote Services (since Oct 2025):</a:t>
            </a:r>
            <a:br/>
            <a:r>
              <a:t>  - Company wiki</a:t>
            </a:r>
            <a:br/>
            <a:r>
              <a:t>  - Internal documentation systems</a:t>
            </a:r>
            <a:br/>
            <a:r>
              <a:t>  - Issue trackers</a:t>
            </a:r>
            <a:br/>
            <a:br/>
            <a:r>
              <a:t>Use Case: Connect to company-specific tools and documentation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88920" y="4809744"/>
            <a:ext cx="56784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95959"/>
                </a:solidFill>
                <a:latin typeface="Arial"/>
              </a:defRPr>
            </a:pPr>
            <a:r>
              <a:t>Kiro Architecture Tool | Alexander Nachtmann | November 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80000" y="114480"/>
            <a:ext cx="8775000" cy="4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15"/>
          </a:bodyPr>
          <a:p>
            <a:pPr indent="0">
              <a:buNone/>
            </a:pPr>
            <a:endParaRPr b="1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80000" y="607680"/>
            <a:ext cx="8775000" cy="40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1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9" name="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2793240" y="4812480"/>
            <a:ext cx="56739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75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GB" sz="750" spc="-1" strike="noStrike">
                <a:solidFill>
                  <a:schemeClr val="dk1"/>
                </a:solidFill>
                <a:latin typeface="Arial"/>
              </a:rPr>
              <a:t>Präsentationstitel | Name | Datum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8542080" y="4812480"/>
            <a:ext cx="4849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C44F6C-3922-4D75-AA00-CC844DC72FBC}" type="slidenum">
              <a:rPr b="0" lang="en-GB" sz="9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5A96"/>
                </a:solidFill>
                <a:latin typeface="Arial"/>
              </a:defRPr>
            </a:pPr>
            <a:r>
              <a:t>Teaching Custom Patterns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595959"/>
                </a:solidFill>
                <a:latin typeface="Arial"/>
              </a:defRPr>
            </a:pPr>
            <a:r>
              <a:t>Scenario: Company has custom architecture patterns or DSLs</a:t>
            </a:r>
            <a:br/>
            <a:br/>
            <a:r>
              <a:t>Pattern:</a:t>
            </a:r>
            <a:br/>
            <a:r>
              <a:t>1. Steering File - Document best practices</a:t>
            </a:r>
            <a:br/>
            <a:r>
              <a:t>2. MCP Server - Connect to live documentation</a:t>
            </a:r>
            <a:br/>
            <a:r>
              <a:t>3. Iterative Learning - Kiro updates steering after mistakes</a:t>
            </a:r>
            <a:br/>
            <a:br/>
            <a:r>
              <a:t>Example:</a:t>
            </a:r>
            <a:br/>
            <a:r>
              <a:t># ~/.kiro/steering/company-patterns.md</a:t>
            </a:r>
            <a:br/>
            <a:r>
              <a:t>- All services use hexagonal architecture</a:t>
            </a:r>
            <a:br/>
            <a:r>
              <a:t>- Ports: interfaces, Adapters: implementations</a:t>
            </a:r>
            <a:br/>
            <a:r>
              <a:t>- Core domain has zero dependencies</a:t>
            </a:r>
            <a:br/>
            <a:br/>
            <a:r>
              <a:t>Result: Kiro learns and enforces company-specific patterns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88920" y="4809744"/>
            <a:ext cx="56784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95959"/>
                </a:solidFill>
                <a:latin typeface="Arial"/>
              </a:defRPr>
            </a:pPr>
            <a:r>
              <a:t>Kiro Architecture Tool | Alexander Nachtmann | November 2025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80000" y="114480"/>
            <a:ext cx="8775000" cy="4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15"/>
          </a:bodyPr>
          <a:p>
            <a:pPr indent="0">
              <a:buNone/>
            </a:pPr>
            <a:endParaRPr b="1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80000" y="607680"/>
            <a:ext cx="8775000" cy="40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1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9" name="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2793240" y="4812480"/>
            <a:ext cx="56739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75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GB" sz="750" spc="-1" strike="noStrike">
                <a:solidFill>
                  <a:schemeClr val="dk1"/>
                </a:solidFill>
                <a:latin typeface="Arial"/>
              </a:rPr>
              <a:t>Präsentationstitel | Name | Datum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8542080" y="4812480"/>
            <a:ext cx="4849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C44F6C-3922-4D75-AA00-CC844DC72FBC}" type="slidenum">
              <a:rPr b="0" lang="en-GB" sz="9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5A96"/>
                </a:solidFill>
                <a:latin typeface="Arial"/>
              </a:defRPr>
            </a:pPr>
            <a:r>
              <a:t>Practical Experience - Strengths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595959"/>
                </a:solidFill>
                <a:latin typeface="Arial"/>
              </a:defRPr>
            </a:pPr>
            <a:r>
              <a:t>From 3.5 months of real-world usage:</a:t>
            </a:r>
            <a:br/>
            <a:br/>
            <a:r>
              <a:t>Integration: Everything in one IDE (specs, code, docs, diagrams)</a:t>
            </a:r>
            <a:br/>
            <a:r>
              <a:t>  No context switching between tools</a:t>
            </a:r>
            <a:br/>
            <a:br/>
            <a:r>
              <a:t>Traceability: Clear path from requirement to code</a:t>
            </a:r>
            <a:br/>
            <a:r>
              <a:t>  Architecture decisions documented automatically</a:t>
            </a:r>
            <a:br/>
            <a:br/>
            <a:r>
              <a:t>Team Consistency: Global steering enforces standards</a:t>
            </a:r>
            <a:br/>
            <a:r>
              <a:t>  New developers onboard faster</a:t>
            </a:r>
            <a:br/>
            <a:br/>
            <a:r>
              <a:t>Automation: Documentation stays current via hooks</a:t>
            </a:r>
            <a:br/>
            <a:r>
              <a:t>  Background processes don't block work</a:t>
            </a:r>
            <a:br/>
            <a:br/>
            <a:r>
              <a:t>Visual Design: Whiteboard -&gt; Production code workflow</a:t>
            </a:r>
            <a:br/>
            <a:r>
              <a:t>  Architecture intent preserved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88920" y="4809744"/>
            <a:ext cx="56784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95959"/>
                </a:solidFill>
                <a:latin typeface="Arial"/>
              </a:defRPr>
            </a:pPr>
            <a:r>
              <a:t>Kiro Architecture Tool | Alexander Nachtmann | November 2025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80000" y="114480"/>
            <a:ext cx="8775000" cy="4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15"/>
          </a:bodyPr>
          <a:p>
            <a:pPr indent="0">
              <a:buNone/>
            </a:pPr>
            <a:endParaRPr b="1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80000" y="607680"/>
            <a:ext cx="8775000" cy="40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1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9" name="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2793240" y="4812480"/>
            <a:ext cx="56739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75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GB" sz="750" spc="-1" strike="noStrike">
                <a:solidFill>
                  <a:schemeClr val="dk1"/>
                </a:solidFill>
                <a:latin typeface="Arial"/>
              </a:rPr>
              <a:t>Präsentationstitel | Name | Datum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8542080" y="4812480"/>
            <a:ext cx="4849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C44F6C-3922-4D75-AA00-CC844DC72FBC}" type="slidenum">
              <a:rPr b="0" lang="en-GB" sz="9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5A96"/>
                </a:solidFill>
                <a:latin typeface="Arial"/>
              </a:defRPr>
            </a:pPr>
            <a:r>
              <a:t>Practical Experience - Limitations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595959"/>
                </a:solidFill>
                <a:latin typeface="Arial"/>
              </a:defRPr>
            </a:pPr>
            <a:r>
              <a:t>Honest Assessment:</a:t>
            </a:r>
            <a:br/>
            <a:br/>
            <a:r>
              <a:t>IDE Lock-In:</a:t>
            </a:r>
            <a:br/>
            <a:r>
              <a:t>  - Must use Kiro IDE (VS Code fork)</a:t>
            </a:r>
            <a:br/>
            <a:r>
              <a:t>  - Can't use JetBrains, Vim, Emacs</a:t>
            </a:r>
            <a:br/>
            <a:br/>
            <a:r>
              <a:t>Young Ecosystem:</a:t>
            </a:r>
            <a:br/>
            <a:r>
              <a:t>  - Only 3.5 months old</a:t>
            </a:r>
            <a:br/>
            <a:r>
              <a:t>  - Rapid iteration = occasional breaking changes</a:t>
            </a:r>
            <a:br/>
            <a:br/>
            <a:r>
              <a:t>No Process Enforcement:</a:t>
            </a:r>
            <a:br/>
            <a:r>
              <a:t>  - No built-in TDD workflow</a:t>
            </a:r>
            <a:br/>
            <a:r>
              <a:t>  - Relies on developer discipline</a:t>
            </a:r>
            <a:br/>
            <a:br/>
            <a:r>
              <a:t>Sequential Execution:</a:t>
            </a:r>
            <a:br/>
            <a:r>
              <a:t>  - Can't run multiple agents in parallel</a:t>
            </a:r>
            <a:br/>
            <a:br/>
            <a:r>
              <a:t>Mitigation: Use alongside process-focused tools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88920" y="4809744"/>
            <a:ext cx="56784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95959"/>
                </a:solidFill>
                <a:latin typeface="Arial"/>
              </a:defRPr>
            </a:pPr>
            <a:r>
              <a:t>Kiro Architecture Tool | Alexander Nachtmann | November 2025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80000" y="114480"/>
            <a:ext cx="8775000" cy="4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15"/>
          </a:bodyPr>
          <a:p>
            <a:pPr indent="0">
              <a:buNone/>
            </a:pPr>
            <a:endParaRPr b="1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80000" y="607680"/>
            <a:ext cx="8775000" cy="40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1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9" name="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2793240" y="4812480"/>
            <a:ext cx="56739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75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GB" sz="750" spc="-1" strike="noStrike">
                <a:solidFill>
                  <a:schemeClr val="dk1"/>
                </a:solidFill>
                <a:latin typeface="Arial"/>
              </a:rPr>
              <a:t>Präsentationstitel | Name | Datum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8542080" y="4812480"/>
            <a:ext cx="4849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C44F6C-3922-4D75-AA00-CC844DC72FBC}" type="slidenum">
              <a:rPr b="0" lang="en-GB" sz="9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5A96"/>
                </a:solidFill>
                <a:latin typeface="Arial"/>
              </a:defRPr>
            </a:pPr>
            <a:r>
              <a:t>Evaluation Summary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595959"/>
                </a:solidFill>
                <a:latin typeface="Arial"/>
              </a:defRPr>
            </a:pPr>
            <a:r>
              <a:t>When Kiro Works Well:</a:t>
            </a:r>
            <a:br/>
            <a:r>
              <a:t>- Architecture-first development</a:t>
            </a:r>
            <a:br/>
            <a:r>
              <a:t>- Teams needing documentation automation</a:t>
            </a:r>
            <a:br/>
            <a:r>
              <a:t>- Projects requiring traceability (compliance, audits)</a:t>
            </a:r>
            <a:br/>
            <a:r>
              <a:t>- Visual design -&gt; code workflows</a:t>
            </a:r>
            <a:br/>
            <a:br/>
            <a:r>
              <a:t>When to Consider Alternatives:</a:t>
            </a:r>
            <a:br/>
            <a:r>
              <a:t>- Need IDE independence (JetBrains/Vim)</a:t>
            </a:r>
            <a:br/>
            <a:r>
              <a:t>- Require enforced TDD/debugging workflows</a:t>
            </a:r>
            <a:br/>
            <a:r>
              <a:t>- Need parallel task execution</a:t>
            </a:r>
            <a:br/>
            <a:br/>
            <a:r>
              <a:t>Key Insight: Best for maintaining architecture docs automatically</a:t>
            </a:r>
            <a:br/>
            <a:br/>
            <a:r>
              <a:t>Rating: Spec generation 5/5, Documentation automation 5/5,</a:t>
            </a:r>
            <a:br/>
            <a:r>
              <a:t>Traceability 5/5, Multimodal 4/5, Process enforcement 3/5</a:t>
            </a:r>
            <a:br/>
            <a:r>
              <a:t>Overall: 4.2/5 for architecture documentation workflows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88920" y="4809744"/>
            <a:ext cx="56784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95959"/>
                </a:solidFill>
                <a:latin typeface="Arial"/>
              </a:defRPr>
            </a:pPr>
            <a:r>
              <a:t>Kiro Architecture Tool | Alexander Nachtmann | November 2025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80000" y="114480"/>
            <a:ext cx="8775000" cy="4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15"/>
          </a:bodyPr>
          <a:p>
            <a:pPr indent="0">
              <a:buNone/>
            </a:pPr>
            <a:endParaRPr b="1" lang="de-DE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80000" y="607680"/>
            <a:ext cx="8775000" cy="40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1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9" name="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2793240" y="4812480"/>
            <a:ext cx="56739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75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GB" sz="750" spc="-1" strike="noStrike">
                <a:solidFill>
                  <a:schemeClr val="dk1"/>
                </a:solidFill>
                <a:latin typeface="Arial"/>
              </a:rPr>
              <a:t>Präsentationstitel | Name | Datum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8542080" y="4812480"/>
            <a:ext cx="4849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C44F6C-3922-4D75-AA00-CC844DC72FBC}" type="slidenum">
              <a:rPr b="0" lang="en-GB" sz="9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05A96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595959"/>
                </a:solidFill>
                <a:latin typeface="Arial"/>
              </a:defRPr>
            </a:pPr>
            <a:r>
              <a:t>Key Takeaways:</a:t>
            </a:r>
            <a:br/>
            <a:br/>
            <a:r>
              <a:t>1. Spec-driven approach reduces gap between design and implementation</a:t>
            </a:r>
            <a:br/>
            <a:br/>
            <a:r>
              <a:t>2. Agent hooks keep architecture documentation current automatically</a:t>
            </a:r>
            <a:br/>
            <a:br/>
            <a:r>
              <a:t>3. Steering files enforce architectural patterns across projects</a:t>
            </a:r>
            <a:br/>
            <a:br/>
            <a:r>
              <a:t>4. Multimodal input preserves design intent from whiteboard to code</a:t>
            </a:r>
            <a:br/>
            <a:br/>
            <a:r>
              <a:t>5. MCP extensibility connects to company-specific systems</a:t>
            </a:r>
            <a:br/>
            <a:br/>
            <a:r>
              <a:t>Ideal Use Case: Teams building features with strong architecture</a:t>
            </a:r>
            <a:br/>
            <a:r>
              <a:t>documentation requirements</a:t>
            </a:r>
            <a:br/>
            <a:br/>
            <a:r>
              <a:t>Try It: Free tier available at https://kiro.dev/docs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88920" y="4809744"/>
            <a:ext cx="56784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95959"/>
                </a:solidFill>
                <a:latin typeface="Arial"/>
              </a:defRPr>
            </a:pPr>
            <a:r>
              <a:t>Kiro Architecture Tool | Alexander Nachtmann | November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Custom 2">
      <a:dk1>
        <a:srgbClr val="000000"/>
      </a:dk1>
      <a:lt1>
        <a:srgbClr val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Benutzerdefiniert 1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Custom 2">
      <a:dk1>
        <a:srgbClr val="000000"/>
      </a:dk1>
      <a:lt1>
        <a:srgbClr val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Benutzerdefiniert 1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Custom 2">
      <a:dk1>
        <a:srgbClr val="000000"/>
      </a:dk1>
      <a:lt1>
        <a:srgbClr val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Benutzerdefiniert 1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Custom 2">
      <a:dk1>
        <a:srgbClr val="000000"/>
      </a:dk1>
      <a:lt1>
        <a:srgbClr val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Benutzerdefiniert 1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Custom 2">
      <a:dk1>
        <a:srgbClr val="000000"/>
      </a:dk1>
      <a:lt1>
        <a:srgbClr val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Benutzerdefiniert 1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Custom 2">
      <a:dk1>
        <a:srgbClr val="000000"/>
      </a:dk1>
      <a:lt1>
        <a:srgbClr val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Benutzerdefiniert 1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Custom 2">
      <a:dk1>
        <a:srgbClr val="000000"/>
      </a:dk1>
      <a:lt1>
        <a:srgbClr val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Benutzerdefiniert 1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Custom 2">
      <a:dk1>
        <a:srgbClr val="000000"/>
      </a:dk1>
      <a:lt1>
        <a:srgbClr val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Benutzerdefiniert 1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Custom 2">
      <a:dk1>
        <a:srgbClr val="000000"/>
      </a:dk1>
      <a:lt1>
        <a:srgbClr val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Benutzerdefiniert 1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Custom 2">
      <a:dk1>
        <a:srgbClr val="000000"/>
      </a:dk1>
      <a:lt1>
        <a:srgbClr val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Benutzerdefiniert 1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">
  <a:themeElements>
    <a:clrScheme name="Custom 2">
      <a:dk1>
        <a:srgbClr val="000000"/>
      </a:dk1>
      <a:lt1>
        <a:srgbClr val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Benutzerdefiniert 1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">
  <a:themeElements>
    <a:clrScheme name="Custom 2">
      <a:dk1>
        <a:srgbClr val="000000"/>
      </a:dk1>
      <a:lt1>
        <a:srgbClr val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Benutzerdefiniert 1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">
  <a:themeElements>
    <a:clrScheme name="Custom 2">
      <a:dk1>
        <a:srgbClr val="000000"/>
      </a:dk1>
      <a:lt1>
        <a:srgbClr val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Benutzerdefiniert 1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76</Words>
  <Paragraphs>21</Paragraphs>
  <Company>Fachhochschule Technikum Wien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2022-02-01T17:39:57Z</dcterms:created>
  <dc:creator>Martin Deinhofer</dc:creator>
  <dc:description/>
  <dc:language>en-US</dc:language>
  <cp:lastModifiedBy>Martin Deinhofer</cp:lastModifiedBy>
  <dcterms:modified xsi:type="dcterms:W3CDTF">2022-02-01T17:47:44Z</dcterms:modified>
  <cp:revision>1</cp:revision>
  <dc:subject/>
  <dc:title>Anmerkungen zur Vorlage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Bildschirmpräsentation (16:9)</vt:lpwstr>
  </property>
  <property fmtid="{D5CDD505-2E9C-101B-9397-08002B2CF9AE}" pid="3" name="Slides">
    <vt:r8>8</vt:r8>
  </property>
</Properties>
</file>