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23774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FH</a:t>
            </a:r>
            <a:br/>
            <a:r>
              <a:t>TECHNIKUM</a:t>
            </a:r>
            <a:br/>
            <a:r>
              <a:t>WIEN</a:t>
            </a:r>
          </a:p>
        </p:txBody>
      </p:sp>
      <p:pic>
        <p:nvPicPr>
          <p:cNvPr id="4" name="Picture 3" descr="img_009_kiro-wordmark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3200400" cy="9977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2468880"/>
            <a:ext cx="4572000" cy="2011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82828"/>
                </a:solidFill>
                <a:latin typeface="Arial"/>
              </a:defRPr>
            </a:pPr>
            <a:r>
              <a:t>AI-Powered Agentic IDE</a:t>
            </a:r>
            <a:br/>
            <a:r>
              <a:t>Architecture Development</a:t>
            </a:r>
            <a:br/>
            <a:r>
              <a:t>&amp; Documentation</a:t>
            </a:r>
            <a:br/>
            <a:br/>
            <a:r>
              <a:t>Practical Evaluation</a:t>
            </a:r>
            <a:br/>
            <a:br/>
            <a:r>
              <a:t>Alexander Nachtmann</a:t>
            </a:r>
            <a:br/>
            <a:r>
              <a:t>Software Architecture</a:t>
            </a:r>
            <a:br/>
            <a:r>
              <a:t>November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What is Kiro?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114800" cy="338328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AWS AGENTIC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65760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t>Built by: AWS team</a:t>
            </a:r>
            <a:br/>
            <a:r>
              <a:t>Released: July 2025</a:t>
            </a:r>
            <a:br/>
            <a:r>
              <a:t>Based on: VS Code (Code OSS)</a:t>
            </a:r>
            <a:br/>
            <a:br/>
            <a:r>
              <a:t>Philosophy:</a:t>
            </a:r>
            <a:br/>
            <a:r>
              <a:t>"Development environment that</a:t>
            </a:r>
            <a:br/>
            <a:r>
              <a:t>takes full advantage of AI"</a:t>
            </a:r>
            <a:br/>
            <a:br/>
            <a:r>
              <a:t>Core Features:</a:t>
            </a:r>
            <a:br/>
            <a:r>
              <a:t>• Spec-driven development</a:t>
            </a:r>
            <a:br/>
            <a:r>
              <a:t>• Event-driven automation</a:t>
            </a:r>
            <a:br/>
            <a:r>
              <a:t>• Multimodal input</a:t>
            </a:r>
            <a:br/>
            <a:r>
              <a:t>• True AI collaborator</a:t>
            </a:r>
          </a:p>
        </p:txBody>
      </p:sp>
      <p:pic>
        <p:nvPicPr>
          <p:cNvPr id="6" name="Picture 5" descr="img_003_secondary-feature-2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621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Core Concept: Spec-Driven Development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60320" cy="219456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74519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86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requirements.md</a:t>
            </a:r>
            <a:br/>
            <a:br/>
            <a:r>
              <a:t>User stories</a:t>
            </a:r>
            <a:br/>
            <a:r>
              <a:t>EARS notation</a:t>
            </a:r>
            <a:br/>
            <a:r>
              <a:t>Acceptance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51760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114300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2560320" cy="219456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74519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94560"/>
            <a:ext cx="2286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design.md</a:t>
            </a:r>
            <a:br/>
            <a:br/>
            <a:r>
              <a:t>Architecture docs</a:t>
            </a:r>
            <a:br/>
            <a:r>
              <a:t>Component diagrams</a:t>
            </a:r>
            <a:br/>
            <a:r>
              <a:t>Sequence diagrams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51760"/>
            <a:ext cx="3657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BB3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1143000"/>
            <a:ext cx="502920" cy="502920"/>
          </a:xfrm>
          <a:prstGeom prst="ellipse">
            <a:avLst/>
          </a:prstGeom>
          <a:solidFill>
            <a:srgbClr val="72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737360"/>
            <a:ext cx="2560320" cy="2194560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874519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194560"/>
            <a:ext cx="2286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tasks.md</a:t>
            </a:r>
            <a:br/>
            <a:br/>
            <a:r>
              <a:t>Discrete tasks</a:t>
            </a:r>
            <a:br/>
            <a:r>
              <a:t>Dependencies</a:t>
            </a:r>
            <a:br/>
            <a:r>
              <a:t>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649C"/>
                </a:solidFill>
                <a:latin typeface="Arial"/>
              </a:defRPr>
            </a:pPr>
            <a:r>
              <a:t>✓ All three files linked - changing requirements automatically updates design &amp; tasks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What Kiro Generates Automatically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Component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3619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Mermaid/PlantUML • Git-versioned • Auto-updated on code changes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Sequence Diagrams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3055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API call flows • System interactions • Error handling paths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Architecture Decision Records (ADRs)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2491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Context → Decision → Rationale → Consequences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6324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Full Traceability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927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Requirement → Design → Task → Test →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3840480" cy="91440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347472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REAL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4747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Financial Trading System:</a:t>
            </a:r>
            <a:br/>
            <a:r>
              <a:t>Whiteboard ERD → Complete architecture</a:t>
            </a:r>
            <a:br/>
            <a:r>
              <a:t>(Kubernetes, PostgreSQL, Kafka) in minutes</a:t>
            </a:r>
          </a:p>
        </p:txBody>
      </p:sp>
      <p:pic>
        <p:nvPicPr>
          <p:cNvPr id="18" name="Picture 17" descr="img_007_secondary-feature-0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840480"/>
            <a:ext cx="4114800" cy="2743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Automation: Steering Files &amp; Agent Hooks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649C"/>
                </a:solidFill>
                <a:latin typeface="Arial"/>
              </a:defRPr>
            </a:pPr>
            <a:r>
              <a:t>STEERING FILES: Persistent AI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2286000" cy="91440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GLOBAL</a:t>
            </a:r>
            <a:br/>
            <a:r>
              <a:t>~/.kiro/steering/</a:t>
            </a:r>
            <a:br/>
            <a:r>
              <a:t>Personal</a:t>
            </a:r>
            <a:br/>
            <a:r>
              <a:t>preferences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54480"/>
            <a:ext cx="2286000" cy="91440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TEAM</a:t>
            </a:r>
            <a:br/>
            <a:r>
              <a:t>via MDM/Git</a:t>
            </a:r>
            <a:br/>
            <a:r>
              <a:t>Company</a:t>
            </a:r>
            <a:br/>
            <a:r>
              <a:t>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554480"/>
            <a:ext cx="2286000" cy="91440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645920"/>
            <a:ext cx="2103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WORKSPACE</a:t>
            </a:r>
            <a:br/>
            <a:r>
              <a:t>.kiro/steering/</a:t>
            </a:r>
            <a:br/>
            <a:r>
              <a:t>Project-</a:t>
            </a:r>
            <a:br/>
            <a:r>
              <a:t>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649C"/>
                </a:solidFill>
                <a:latin typeface="Arial"/>
              </a:defRPr>
            </a:pPr>
            <a:r>
              <a:t>AGENT HOOKS: Event-Driven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108960"/>
            <a:ext cx="1188720" cy="45720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1188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File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2743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B3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108960"/>
            <a:ext cx="1188720" cy="45720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200400"/>
            <a:ext cx="1188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2743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B3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108960"/>
            <a:ext cx="1188720" cy="45720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1188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Agent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2743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B31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108960"/>
            <a:ext cx="1188720" cy="45720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200400"/>
            <a:ext cx="11887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Update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Use Cases: Documentation sync • Test generation • Diagram updates • Security scans</a:t>
            </a:r>
            <a:br/>
            <a:r>
              <a:t>Result: Documentation never falls behind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Extensibility: MCP Integration &amp; Multimodal Input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MODEL CONTEXT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36576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Connect external tools:</a:t>
            </a:r>
            <a:br/>
            <a:br/>
            <a:r>
              <a:t>Local Servers:</a:t>
            </a:r>
            <a:br/>
            <a:r>
              <a:t>• AWS documentation</a:t>
            </a:r>
            <a:br/>
            <a:r>
              <a:t>• GitHub repositories</a:t>
            </a:r>
            <a:br/>
            <a:r>
              <a:t>• Custom CLI tools</a:t>
            </a:r>
            <a:br/>
            <a:br/>
            <a:r>
              <a:t>Remote (Oct 2025+):</a:t>
            </a:r>
            <a:br/>
            <a:r>
              <a:t>• Company wiki</a:t>
            </a:r>
            <a:br/>
            <a:r>
              <a:t>• Notion</a:t>
            </a:r>
            <a:br/>
            <a:r>
              <a:t>• Issue trackers</a:t>
            </a:r>
            <a:br/>
            <a:br/>
            <a:r>
              <a:t>Result: Enhanced AI context</a:t>
            </a:r>
            <a:br/>
            <a:r>
              <a:t>for better code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MULTIMODAL INPUT</a:t>
            </a:r>
          </a:p>
        </p:txBody>
      </p:sp>
      <p:pic>
        <p:nvPicPr>
          <p:cNvPr id="8" name="Picture 7" descr="img_000_tertiary-feature-6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3383280" cy="2258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37760" y="4251960"/>
            <a:ext cx="35661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Upload: Whiteboard → Architecture → UML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Real-World Workflow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BB31D"/>
                </a:solidFill>
                <a:latin typeface="Arial"/>
              </a:defRPr>
            </a:pPr>
            <a:r>
              <a:t>Financial Trading System Development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49C"/>
                </a:solidFill>
                <a:latin typeface="Arial"/>
              </a:defRPr>
            </a:pPr>
            <a:r>
              <a:t>WHITEBOARD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65836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Draw ERD: User → Account → Position → Order → Trade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74519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49C"/>
                </a:solidFill>
                <a:latin typeface="Arial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65836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Take photo, upload to Kiro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23160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49C"/>
                </a:solidFill>
                <a:latin typeface="Arial"/>
              </a:defRPr>
            </a:pPr>
            <a: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65836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Kiro generates requirements.md, design.md, tasks.md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71800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49C"/>
                </a:solidFill>
                <a:latin typeface="Arial"/>
              </a:defRPr>
            </a:pPr>
            <a:r>
              <a:t>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0400"/>
            <a:ext cx="65836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TypeScript models, PostgreSQL schema, Kubernetes manifests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20439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49C"/>
                </a:solidFill>
                <a:latin typeface="Arial"/>
              </a:defRPr>
            </a:pPr>
            <a:r>
              <a:t>AUTOMATE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49039"/>
            <a:ext cx="65836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Agent hooks: File save → Update OpenAPI + README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69080"/>
            <a:ext cx="2286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49C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97680"/>
            <a:ext cx="658368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Architecture constraints, compliance, security,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90288"/>
            <a:ext cx="78638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⚡ Result: Production-ready system in days instead of weeks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Practical Experience: Strengths (3.5 months)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28016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3619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Everything in one IDE • No context switching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74519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TRACEABILITY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3055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Clear path REQ → CODE • Decisions documented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2491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Standards enforced globally • Faster onboarding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6324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1927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Docs stay current • Background processing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VISUAL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1363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Whiteboard → Production code • Intent preserved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Practical Experience: Limitations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IDE LOCK-IN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2763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Must use Kiro IDE (VS Code fork) • No JetBrains/Vim/Emacs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72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YOUNG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1343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Only 3.5 months old • Occasional breaking changes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72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NO PROCESS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9923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No built-in TDD workflow • Relies on developer discipline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72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⏸️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7498079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649C"/>
                </a:solidFill>
                <a:latin typeface="Arial"/>
              </a:defRPr>
            </a:pPr>
            <a:r>
              <a:t>SEQUENTIAL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85032"/>
            <a:ext cx="7498079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82828"/>
                </a:solidFill>
                <a:latin typeface="Arial"/>
              </a:defRPr>
            </a:pPr>
            <a:r>
              <a:t>Can't run multiple agents in parallel • One task at a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B31D"/>
                </a:solidFill>
                <a:latin typeface="Arial"/>
              </a:defRPr>
            </a:pPr>
            <a:r>
              <a:t>✓ Mitigation: Use alongside process-focused tools for rigorous workflows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649C"/>
                </a:solidFill>
                <a:latin typeface="Arial"/>
              </a:defRPr>
            </a:pPr>
            <a:r>
              <a:t>Conclusion: When to Use Kiro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649C"/>
                </a:solidFill>
                <a:latin typeface="Arial"/>
              </a:defRPr>
            </a:pPr>
            <a:r>
              <a:t>PERFORMANCE RATINGS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Spec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307592"/>
            <a:ext cx="640080" cy="146304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3657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B31D"/>
                </a:solidFill>
                <a:latin typeface="Arial"/>
              </a:defRPr>
            </a:pPr>
            <a:r>
              <a:t>5/5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2860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Documentation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27632"/>
            <a:ext cx="640080" cy="146304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00200"/>
            <a:ext cx="3657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B31D"/>
                </a:solidFill>
                <a:latin typeface="Arial"/>
              </a:defRPr>
            </a:pPr>
            <a: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2860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Architecture Traceability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47672"/>
            <a:ext cx="640080" cy="146304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3657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BB31D"/>
                </a:solidFill>
                <a:latin typeface="Arial"/>
              </a:defRPr>
            </a:pPr>
            <a:r>
              <a:t>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22860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Multimodal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267712"/>
            <a:ext cx="512063" cy="146304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2240280"/>
            <a:ext cx="3657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649C"/>
                </a:solidFill>
                <a:latin typeface="Arial"/>
              </a:defRPr>
            </a:pPr>
            <a:r>
              <a:t>4/5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22860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Process Enforcement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587751"/>
            <a:ext cx="384047" cy="146304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560320"/>
            <a:ext cx="3657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72777A"/>
                </a:solidFill>
                <a:latin typeface="Arial"/>
              </a:defRPr>
            </a:pPr>
            <a:r>
              <a:t>3/5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3657600" cy="594360"/>
          </a:xfrm>
          <a:prstGeom prst="rect">
            <a:avLst/>
          </a:prstGeom>
          <a:solidFill>
            <a:srgbClr val="0064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27432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OVERALL: 4.2/5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B31D"/>
                </a:solidFill>
                <a:latin typeface="Arial"/>
              </a:defRPr>
            </a:pPr>
            <a:r>
              <a:t>✓ BEST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234440"/>
            <a:ext cx="365760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Architecture-first development</a:t>
            </a:r>
            <a:br/>
            <a:r>
              <a:t>• Documentation automation</a:t>
            </a:r>
            <a:br/>
            <a:r>
              <a:t>• Compliance &amp; traceability</a:t>
            </a:r>
            <a:br/>
            <a:r>
              <a:t>• Visual design →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2777A"/>
                </a:solidFill>
                <a:latin typeface="Arial"/>
              </a:defRPr>
            </a:pPr>
            <a:r>
              <a:t>⚠ CONSIDER ALTERNATIVES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606040"/>
            <a:ext cx="3657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82828"/>
                </a:solidFill>
                <a:latin typeface="Arial"/>
              </a:defRPr>
            </a:pPr>
            <a:r>
              <a:t>• Need IDE independence</a:t>
            </a:r>
            <a:br/>
            <a:r>
              <a:t>• Require enforced TDD</a:t>
            </a:r>
            <a:br/>
            <a:r>
              <a:t>• Need parallel 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7863840" cy="685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KEY INSIGHT</a:t>
            </a:r>
            <a:br/>
            <a:r>
              <a:t>Kiro excels at maintaining architecture documentation automatically.</a:t>
            </a:r>
            <a:br/>
            <a:r>
              <a:t>Strongest feature: Keeping docs synchronized with code via agent hooks.</a:t>
            </a:r>
            <a:br/>
            <a:br/>
            <a:r>
              <a:t>Try it: Free tier available • https://kiro.dev/docs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8BB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8229600" cy="1554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r>
              <a:t>Source: Kiro.dev © AWS | FH Technikum Wien | 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